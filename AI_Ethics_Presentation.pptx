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448" r:id="rId5"/>
    <p:sldId id="2462" r:id="rId6"/>
    <p:sldId id="259" r:id="rId7"/>
    <p:sldId id="2451" r:id="rId8"/>
    <p:sldId id="2432" r:id="rId9"/>
    <p:sldId id="2463" r:id="rId10"/>
    <p:sldId id="2450" r:id="rId11"/>
    <p:sldId id="260" r:id="rId12"/>
    <p:sldId id="2464" r:id="rId13"/>
    <p:sldId id="24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01023B"/>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E04C56-A89E-4D78-9317-D619CECB6EB4}" v="140" dt="2025-02-26T21:12:00.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80" d="100"/>
          <a:sy n="80" d="100"/>
        </p:scale>
        <p:origin x="53" y="293"/>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Bustamante" userId="dc99cc4e5d970e16" providerId="LiveId" clId="{9CE04C56-A89E-4D78-9317-D619CECB6EB4}"/>
    <pc:docChg chg="custSel addSld delSld modSld">
      <pc:chgData name="Nicolas Bustamante" userId="dc99cc4e5d970e16" providerId="LiveId" clId="{9CE04C56-A89E-4D78-9317-D619CECB6EB4}" dt="2025-02-26T21:15:41.510" v="1691" actId="1076"/>
      <pc:docMkLst>
        <pc:docMk/>
      </pc:docMkLst>
      <pc:sldChg chg="addSp delSp modSp mod setBg">
        <pc:chgData name="Nicolas Bustamante" userId="dc99cc4e5d970e16" providerId="LiveId" clId="{9CE04C56-A89E-4D78-9317-D619CECB6EB4}" dt="2025-02-26T21:13:51.114" v="1671" actId="1076"/>
        <pc:sldMkLst>
          <pc:docMk/>
          <pc:sldMk cId="1325373587" sldId="259"/>
        </pc:sldMkLst>
        <pc:spChg chg="add del mod">
          <ac:chgData name="Nicolas Bustamante" userId="dc99cc4e5d970e16" providerId="LiveId" clId="{9CE04C56-A89E-4D78-9317-D619CECB6EB4}" dt="2025-02-26T21:11:24.118" v="1524" actId="478"/>
          <ac:spMkLst>
            <pc:docMk/>
            <pc:sldMk cId="1325373587" sldId="259"/>
            <ac:spMk id="6" creationId="{A38EB16E-0C06-536C-B448-3676A436A217}"/>
          </ac:spMkLst>
        </pc:spChg>
        <pc:spChg chg="mod">
          <ac:chgData name="Nicolas Bustamante" userId="dc99cc4e5d970e16" providerId="LiveId" clId="{9CE04C56-A89E-4D78-9317-D619CECB6EB4}" dt="2025-02-26T21:13:51.114" v="1671" actId="1076"/>
          <ac:spMkLst>
            <pc:docMk/>
            <pc:sldMk cId="1325373587" sldId="259"/>
            <ac:spMk id="9" creationId="{256319DF-036A-473B-95D3-C5F6FF849FD4}"/>
          </ac:spMkLst>
        </pc:spChg>
        <pc:spChg chg="mod">
          <ac:chgData name="Nicolas Bustamante" userId="dc99cc4e5d970e16" providerId="LiveId" clId="{9CE04C56-A89E-4D78-9317-D619CECB6EB4}" dt="2025-02-26T21:13:37.495" v="1667" actId="255"/>
          <ac:spMkLst>
            <pc:docMk/>
            <pc:sldMk cId="1325373587" sldId="259"/>
            <ac:spMk id="11" creationId="{42F15FA7-8B7C-F8E7-F3FE-6EF7247A5330}"/>
          </ac:spMkLst>
        </pc:spChg>
        <pc:picChg chg="del">
          <ac:chgData name="Nicolas Bustamante" userId="dc99cc4e5d970e16" providerId="LiveId" clId="{9CE04C56-A89E-4D78-9317-D619CECB6EB4}" dt="2025-02-26T21:11:17.820" v="1522" actId="478"/>
          <ac:picMkLst>
            <pc:docMk/>
            <pc:sldMk cId="1325373587" sldId="259"/>
            <ac:picMk id="5" creationId="{A0280051-D7F1-4438-B815-F0FF4906D141}"/>
          </ac:picMkLst>
        </pc:picChg>
      </pc:sldChg>
      <pc:sldChg chg="modSp mod">
        <pc:chgData name="Nicolas Bustamante" userId="dc99cc4e5d970e16" providerId="LiveId" clId="{9CE04C56-A89E-4D78-9317-D619CECB6EB4}" dt="2025-02-26T21:15:41.510" v="1691" actId="1076"/>
        <pc:sldMkLst>
          <pc:docMk/>
          <pc:sldMk cId="2720361709" sldId="260"/>
        </pc:sldMkLst>
        <pc:spChg chg="mod">
          <ac:chgData name="Nicolas Bustamante" userId="dc99cc4e5d970e16" providerId="LiveId" clId="{9CE04C56-A89E-4D78-9317-D619CECB6EB4}" dt="2025-02-26T21:15:41.510" v="1691" actId="1076"/>
          <ac:spMkLst>
            <pc:docMk/>
            <pc:sldMk cId="2720361709" sldId="260"/>
            <ac:spMk id="2" creationId="{55D1DCAD-B616-1FD7-AB8C-B52FF5CE27D8}"/>
          </ac:spMkLst>
        </pc:spChg>
        <pc:spChg chg="mod">
          <ac:chgData name="Nicolas Bustamante" userId="dc99cc4e5d970e16" providerId="LiveId" clId="{9CE04C56-A89E-4D78-9317-D619CECB6EB4}" dt="2025-02-26T21:15:37.900" v="1690" actId="1076"/>
          <ac:spMkLst>
            <pc:docMk/>
            <pc:sldMk cId="2720361709" sldId="260"/>
            <ac:spMk id="36" creationId="{4E5219A1-EDC5-1380-D864-C0FE86B44A4C}"/>
          </ac:spMkLst>
        </pc:spChg>
      </pc:sldChg>
      <pc:sldChg chg="modSp mod setBg">
        <pc:chgData name="Nicolas Bustamante" userId="dc99cc4e5d970e16" providerId="LiveId" clId="{9CE04C56-A89E-4D78-9317-D619CECB6EB4}" dt="2025-02-26T21:14:33.007" v="1678" actId="255"/>
        <pc:sldMkLst>
          <pc:docMk/>
          <pc:sldMk cId="869470413" sldId="2432"/>
        </pc:sldMkLst>
        <pc:spChg chg="mod">
          <ac:chgData name="Nicolas Bustamante" userId="dc99cc4e5d970e16" providerId="LiveId" clId="{9CE04C56-A89E-4D78-9317-D619CECB6EB4}" dt="2025-02-26T21:14:09.639" v="1674" actId="255"/>
          <ac:spMkLst>
            <pc:docMk/>
            <pc:sldMk cId="869470413" sldId="2432"/>
            <ac:spMk id="2" creationId="{603DA247-2F35-4FB8-903D-FB32D7B852D9}"/>
          </ac:spMkLst>
        </pc:spChg>
        <pc:spChg chg="mod">
          <ac:chgData name="Nicolas Bustamante" userId="dc99cc4e5d970e16" providerId="LiveId" clId="{9CE04C56-A89E-4D78-9317-D619CECB6EB4}" dt="2025-02-26T21:14:33.007" v="1678" actId="255"/>
          <ac:spMkLst>
            <pc:docMk/>
            <pc:sldMk cId="869470413" sldId="2432"/>
            <ac:spMk id="8" creationId="{79DA707E-1FB5-E2F5-BEC2-57A0FAD2914D}"/>
          </ac:spMkLst>
        </pc:spChg>
      </pc:sldChg>
      <pc:sldChg chg="delSp mod">
        <pc:chgData name="Nicolas Bustamante" userId="dc99cc4e5d970e16" providerId="LiveId" clId="{9CE04C56-A89E-4D78-9317-D619CECB6EB4}" dt="2025-02-26T21:12:56.814" v="1663" actId="478"/>
        <pc:sldMkLst>
          <pc:docMk/>
          <pc:sldMk cId="3927832306" sldId="2448"/>
        </pc:sldMkLst>
        <pc:spChg chg="del">
          <ac:chgData name="Nicolas Bustamante" userId="dc99cc4e5d970e16" providerId="LiveId" clId="{9CE04C56-A89E-4D78-9317-D619CECB6EB4}" dt="2025-02-26T21:12:56.814" v="1663" actId="478"/>
          <ac:spMkLst>
            <pc:docMk/>
            <pc:sldMk cId="3927832306" sldId="2448"/>
            <ac:spMk id="6" creationId="{47F70BD9-90A7-A2D8-5720-F94EED916641}"/>
          </ac:spMkLst>
        </pc:spChg>
      </pc:sldChg>
      <pc:sldChg chg="modSp mod">
        <pc:chgData name="Nicolas Bustamante" userId="dc99cc4e5d970e16" providerId="LiveId" clId="{9CE04C56-A89E-4D78-9317-D619CECB6EB4}" dt="2025-02-26T21:15:23.121" v="1688" actId="1076"/>
        <pc:sldMkLst>
          <pc:docMk/>
          <pc:sldMk cId="839779156" sldId="2450"/>
        </pc:sldMkLst>
        <pc:spChg chg="mod">
          <ac:chgData name="Nicolas Bustamante" userId="dc99cc4e5d970e16" providerId="LiveId" clId="{9CE04C56-A89E-4D78-9317-D619CECB6EB4}" dt="2025-02-26T21:15:11.944" v="1686" actId="1076"/>
          <ac:spMkLst>
            <pc:docMk/>
            <pc:sldMk cId="839779156" sldId="2450"/>
            <ac:spMk id="9" creationId="{59F7C8FF-DBCB-1890-2EEF-4F08247FB5E5}"/>
          </ac:spMkLst>
        </pc:spChg>
        <pc:spChg chg="mod">
          <ac:chgData name="Nicolas Bustamante" userId="dc99cc4e5d970e16" providerId="LiveId" clId="{9CE04C56-A89E-4D78-9317-D619CECB6EB4}" dt="2025-02-26T21:15:23.121" v="1688" actId="1076"/>
          <ac:spMkLst>
            <pc:docMk/>
            <pc:sldMk cId="839779156" sldId="2450"/>
            <ac:spMk id="10" creationId="{1E924280-7590-A1AF-0EB2-2C6DE8979009}"/>
          </ac:spMkLst>
        </pc:spChg>
      </pc:sldChg>
      <pc:sldChg chg="modSp mod">
        <pc:chgData name="Nicolas Bustamante" userId="dc99cc4e5d970e16" providerId="LiveId" clId="{9CE04C56-A89E-4D78-9317-D619CECB6EB4}" dt="2025-02-26T21:14:03.474" v="1673" actId="255"/>
        <pc:sldMkLst>
          <pc:docMk/>
          <pc:sldMk cId="2944765398" sldId="2451"/>
        </pc:sldMkLst>
        <pc:spChg chg="mod">
          <ac:chgData name="Nicolas Bustamante" userId="dc99cc4e5d970e16" providerId="LiveId" clId="{9CE04C56-A89E-4D78-9317-D619CECB6EB4}" dt="2025-02-26T21:14:03.474" v="1673" actId="255"/>
          <ac:spMkLst>
            <pc:docMk/>
            <pc:sldMk cId="2944765398" sldId="2451"/>
            <ac:spMk id="3" creationId="{1D24B42B-925B-494C-A986-BD85E8117E1E}"/>
          </ac:spMkLst>
        </pc:spChg>
        <pc:spChg chg="mod">
          <ac:chgData name="Nicolas Bustamante" userId="dc99cc4e5d970e16" providerId="LiveId" clId="{9CE04C56-A89E-4D78-9317-D619CECB6EB4}" dt="2025-02-26T21:13:58.370" v="1672" actId="255"/>
          <ac:spMkLst>
            <pc:docMk/>
            <pc:sldMk cId="2944765398" sldId="2451"/>
            <ac:spMk id="5" creationId="{739AEAE5-7018-3AA7-2BFC-D2BFF9978917}"/>
          </ac:spMkLst>
        </pc:spChg>
      </pc:sldChg>
      <pc:sldChg chg="modSp mod">
        <pc:chgData name="Nicolas Bustamante" userId="dc99cc4e5d970e16" providerId="LiveId" clId="{9CE04C56-A89E-4D78-9317-D619CECB6EB4}" dt="2025-02-26T21:13:19.708" v="1666" actId="255"/>
        <pc:sldMkLst>
          <pc:docMk/>
          <pc:sldMk cId="1649098948" sldId="2462"/>
        </pc:sldMkLst>
        <pc:spChg chg="mod">
          <ac:chgData name="Nicolas Bustamante" userId="dc99cc4e5d970e16" providerId="LiveId" clId="{9CE04C56-A89E-4D78-9317-D619CECB6EB4}" dt="2025-02-26T21:13:19.708" v="1666" actId="255"/>
          <ac:spMkLst>
            <pc:docMk/>
            <pc:sldMk cId="1649098948" sldId="2462"/>
            <ac:spMk id="11" creationId="{9372D383-775C-4F84-DB0B-03E9905795C1}"/>
          </ac:spMkLst>
        </pc:spChg>
      </pc:sldChg>
      <pc:sldChg chg="modSp mod">
        <pc:chgData name="Nicolas Bustamante" userId="dc99cc4e5d970e16" providerId="LiveId" clId="{9CE04C56-A89E-4D78-9317-D619CECB6EB4}" dt="2025-02-26T21:14:42.170" v="1679" actId="255"/>
        <pc:sldMkLst>
          <pc:docMk/>
          <pc:sldMk cId="4269565686" sldId="2463"/>
        </pc:sldMkLst>
        <pc:spChg chg="mod">
          <ac:chgData name="Nicolas Bustamante" userId="dc99cc4e5d970e16" providerId="LiveId" clId="{9CE04C56-A89E-4D78-9317-D619CECB6EB4}" dt="2025-02-26T21:14:42.170" v="1679" actId="255"/>
          <ac:spMkLst>
            <pc:docMk/>
            <pc:sldMk cId="4269565686" sldId="2463"/>
            <ac:spMk id="7" creationId="{7164A398-9C7F-ADC4-EFCE-1996AC862DF2}"/>
          </ac:spMkLst>
        </pc:spChg>
      </pc:sldChg>
      <pc:sldChg chg="modSp mod setBg modNotesTx">
        <pc:chgData name="Nicolas Bustamante" userId="dc99cc4e5d970e16" providerId="LiveId" clId="{9CE04C56-A89E-4D78-9317-D619CECB6EB4}" dt="2025-02-26T21:05:41.200" v="948" actId="20577"/>
        <pc:sldMkLst>
          <pc:docMk/>
          <pc:sldMk cId="3860685720" sldId="2464"/>
        </pc:sldMkLst>
        <pc:spChg chg="mod">
          <ac:chgData name="Nicolas Bustamante" userId="dc99cc4e5d970e16" providerId="LiveId" clId="{9CE04C56-A89E-4D78-9317-D619CECB6EB4}" dt="2025-02-26T20:58:06.330" v="5" actId="1076"/>
          <ac:spMkLst>
            <pc:docMk/>
            <pc:sldMk cId="3860685720" sldId="2464"/>
            <ac:spMk id="6" creationId="{5A8AA571-5A7F-749C-C21C-3690625206C6}"/>
          </ac:spMkLst>
        </pc:spChg>
        <pc:spChg chg="mod">
          <ac:chgData name="Nicolas Bustamante" userId="dc99cc4e5d970e16" providerId="LiveId" clId="{9CE04C56-A89E-4D78-9317-D619CECB6EB4}" dt="2025-02-26T21:04:45.620" v="760" actId="1076"/>
          <ac:spMkLst>
            <pc:docMk/>
            <pc:sldMk cId="3860685720" sldId="2464"/>
            <ac:spMk id="14" creationId="{A269A8A9-FCE0-3522-BCA3-A2A22E2BF66B}"/>
          </ac:spMkLst>
        </pc:spChg>
        <pc:spChg chg="mod">
          <ac:chgData name="Nicolas Bustamante" userId="dc99cc4e5d970e16" providerId="LiveId" clId="{9CE04C56-A89E-4D78-9317-D619CECB6EB4}" dt="2025-02-26T21:04:35.851" v="758" actId="1076"/>
          <ac:spMkLst>
            <pc:docMk/>
            <pc:sldMk cId="3860685720" sldId="2464"/>
            <ac:spMk id="16" creationId="{CD895EA4-0C29-6B0C-BE2A-A957EC4E0906}"/>
          </ac:spMkLst>
        </pc:spChg>
      </pc:sldChg>
      <pc:sldChg chg="modSp new del mod">
        <pc:chgData name="Nicolas Bustamante" userId="dc99cc4e5d970e16" providerId="LiveId" clId="{9CE04C56-A89E-4D78-9317-D619CECB6EB4}" dt="2025-02-26T21:10:53.303" v="1520" actId="47"/>
        <pc:sldMkLst>
          <pc:docMk/>
          <pc:sldMk cId="4118967590" sldId="2465"/>
        </pc:sldMkLst>
        <pc:spChg chg="mod">
          <ac:chgData name="Nicolas Bustamante" userId="dc99cc4e5d970e16" providerId="LiveId" clId="{9CE04C56-A89E-4D78-9317-D619CECB6EB4}" dt="2025-02-26T21:06:16.128" v="968" actId="20577"/>
          <ac:spMkLst>
            <pc:docMk/>
            <pc:sldMk cId="4118967590" sldId="2465"/>
            <ac:spMk id="4" creationId="{0B035E53-88D3-8D5A-C836-CD47DC435BE2}"/>
          </ac:spMkLst>
        </pc:spChg>
      </pc:sldChg>
      <pc:sldChg chg="delSp modSp add mod setBg delDesignElem modNotesTx">
        <pc:chgData name="Nicolas Bustamante" userId="dc99cc4e5d970e16" providerId="LiveId" clId="{9CE04C56-A89E-4D78-9317-D619CECB6EB4}" dt="2025-02-26T21:10:46.032" v="1519" actId="20577"/>
        <pc:sldMkLst>
          <pc:docMk/>
          <pc:sldMk cId="2403387394" sldId="2466"/>
        </pc:sldMkLst>
        <pc:spChg chg="mod">
          <ac:chgData name="Nicolas Bustamante" userId="dc99cc4e5d970e16" providerId="LiveId" clId="{9CE04C56-A89E-4D78-9317-D619CECB6EB4}" dt="2025-02-26T21:06:56.597" v="1000" actId="1076"/>
          <ac:spMkLst>
            <pc:docMk/>
            <pc:sldMk cId="2403387394" sldId="2466"/>
            <ac:spMk id="14" creationId="{88C714B9-005C-7939-93F5-0EDF9A1C0325}"/>
          </ac:spMkLst>
        </pc:spChg>
        <pc:spChg chg="mod">
          <ac:chgData name="Nicolas Bustamante" userId="dc99cc4e5d970e16" providerId="LiveId" clId="{9CE04C56-A89E-4D78-9317-D619CECB6EB4}" dt="2025-02-26T21:08:37.587" v="1251" actId="20577"/>
          <ac:spMkLst>
            <pc:docMk/>
            <pc:sldMk cId="2403387394" sldId="2466"/>
            <ac:spMk id="16" creationId="{5A36952D-DFA1-BC7E-C65D-BE2690226085}"/>
          </ac:spMkLst>
        </pc:spChg>
        <pc:spChg chg="del">
          <ac:chgData name="Nicolas Bustamante" userId="dc99cc4e5d970e16" providerId="LiveId" clId="{9CE04C56-A89E-4D78-9317-D619CECB6EB4}" dt="2025-02-26T21:06:22.394" v="970"/>
          <ac:spMkLst>
            <pc:docMk/>
            <pc:sldMk cId="2403387394" sldId="2466"/>
            <ac:spMk id="19" creationId="{84B30C30-0C1F-BBB7-FC80-DBCE3547FF4B}"/>
          </ac:spMkLst>
        </pc:spChg>
        <pc:spChg chg="del">
          <ac:chgData name="Nicolas Bustamante" userId="dc99cc4e5d970e16" providerId="LiveId" clId="{9CE04C56-A89E-4D78-9317-D619CECB6EB4}" dt="2025-02-26T21:06:22.394" v="970"/>
          <ac:spMkLst>
            <pc:docMk/>
            <pc:sldMk cId="2403387394" sldId="2466"/>
            <ac:spMk id="21" creationId="{7928BEF6-A489-B1E5-48C9-87E9499FBFE5}"/>
          </ac:spMkLst>
        </pc:spChg>
        <pc:spChg chg="del">
          <ac:chgData name="Nicolas Bustamante" userId="dc99cc4e5d970e16" providerId="LiveId" clId="{9CE04C56-A89E-4D78-9317-D619CECB6EB4}" dt="2025-02-26T21:06:22.394" v="970"/>
          <ac:spMkLst>
            <pc:docMk/>
            <pc:sldMk cId="2403387394" sldId="2466"/>
            <ac:spMk id="23" creationId="{8BF92E65-309F-7002-142E-29252E667C5B}"/>
          </ac:spMkLst>
        </pc:spChg>
        <pc:spChg chg="del">
          <ac:chgData name="Nicolas Bustamante" userId="dc99cc4e5d970e16" providerId="LiveId" clId="{9CE04C56-A89E-4D78-9317-D619CECB6EB4}" dt="2025-02-26T21:06:22.394" v="970"/>
          <ac:spMkLst>
            <pc:docMk/>
            <pc:sldMk cId="2403387394" sldId="2466"/>
            <ac:spMk id="25" creationId="{0BDF2160-9D94-2452-B4E1-8BAEF68FC7F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2/26/2025</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2/26/2025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explores the ethical challenges of AI development with focuses on transparency, accountability, fairness, and harm prevention. We look at these key concerns, emerging issues, issues specific to AI, and a framework for responsible AI development.</a:t>
            </a:r>
          </a:p>
        </p:txBody>
      </p:sp>
      <p:sp>
        <p:nvSpPr>
          <p:cNvPr id="4" name="Slide Number Placeholder 3"/>
          <p:cNvSpPr>
            <a:spLocks noGrp="1"/>
          </p:cNvSpPr>
          <p:nvPr>
            <p:ph type="sldNum" sz="quarter" idx="5"/>
          </p:nvPr>
        </p:nvSpPr>
        <p:spPr/>
        <p:txBody>
          <a:bodyPr/>
          <a:lstStyle/>
          <a:p>
            <a:fld id="{228B34ED-4CDD-41C9-90F7-D768D5559A6F}" type="slidenum">
              <a:rPr lang="en-US" smtClean="0"/>
              <a:t>1</a:t>
            </a:fld>
            <a:endParaRPr lang="en-US" dirty="0"/>
          </a:p>
        </p:txBody>
      </p:sp>
    </p:spTree>
    <p:extLst>
      <p:ext uri="{BB962C8B-B14F-4D97-AF65-F5344CB8AC3E}">
        <p14:creationId xmlns:p14="http://schemas.microsoft.com/office/powerpoint/2010/main" val="730234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 been beneficial in multiple sectors and divisions of human research and operations, but it’s rapid growth has raised ethical concerns and questions. This slide introduces the key themes we will discuss, such as bias, misinformation, fairness, and equitability in AI decision-making and framework.</a:t>
            </a:r>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8307313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of AI in an ethical manner requires consideration of the aforementioned topics. Transparency explains the AI system as a whole, explainability provides reasoning behind AI decisions, fairness addresses and mitigates biases in AI operation and responses, and harm prevention ensures AI is developed with safeguards in mind.</a:t>
            </a:r>
          </a:p>
        </p:txBody>
      </p:sp>
      <p:sp>
        <p:nvSpPr>
          <p:cNvPr id="4" name="Slide Number Placeholder 3"/>
          <p:cNvSpPr>
            <a:spLocks noGrp="1"/>
          </p:cNvSpPr>
          <p:nvPr>
            <p:ph type="sldNum" sz="quarter" idx="5"/>
          </p:nvPr>
        </p:nvSpPr>
        <p:spPr/>
        <p:txBody>
          <a:bodyPr/>
          <a:lstStyle/>
          <a:p>
            <a:fld id="{228B34ED-4CDD-41C9-90F7-D768D5559A6F}" type="slidenum">
              <a:rPr lang="en-US" smtClean="0"/>
              <a:t>3</a:t>
            </a:fld>
            <a:endParaRPr lang="en-US" dirty="0"/>
          </a:p>
        </p:txBody>
      </p:sp>
    </p:spTree>
    <p:extLst>
      <p:ext uri="{BB962C8B-B14F-4D97-AF65-F5344CB8AC3E}">
        <p14:creationId xmlns:p14="http://schemas.microsoft.com/office/powerpoint/2010/main" val="1632949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AI models operate at a high level of technical expertise, the reasoning incorporated by algorithmic expressions can be incomprehensible to AI users and those affected by its decisions. Transparency and explainability are crucial in ensuring that AI doesn’t operate on its own authority. Both users and those affected by AI’s decisions must have the ability to question AI’s framework, challenge reasoning behind the decisions that it makes, and incorporate the use of XAI to bridge the gap between experts and users.</a:t>
            </a:r>
          </a:p>
        </p:txBody>
      </p:sp>
      <p:sp>
        <p:nvSpPr>
          <p:cNvPr id="4" name="Slide Number Placeholder 3"/>
          <p:cNvSpPr>
            <a:spLocks noGrp="1"/>
          </p:cNvSpPr>
          <p:nvPr>
            <p:ph type="sldNum" sz="quarter" idx="5"/>
          </p:nvPr>
        </p:nvSpPr>
        <p:spPr/>
        <p:txBody>
          <a:bodyPr/>
          <a:lstStyle/>
          <a:p>
            <a:fld id="{228B34ED-4CDD-41C9-90F7-D768D5559A6F}" type="slidenum">
              <a:rPr lang="en-US" smtClean="0"/>
              <a:t>4</a:t>
            </a:fld>
            <a:endParaRPr lang="en-US" dirty="0"/>
          </a:p>
        </p:txBody>
      </p:sp>
    </p:spTree>
    <p:extLst>
      <p:ext uri="{BB962C8B-B14F-4D97-AF65-F5344CB8AC3E}">
        <p14:creationId xmlns:p14="http://schemas.microsoft.com/office/powerpoint/2010/main" val="3084757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and those who both develop, implement, and incorporate its usage, must be held accountable for its actions and decisions. They also have a responsibility to mitigate or compensate those negatively and unfairly affected by its usage. Accountability along with regular oversight protect against unintended harm and biases.</a:t>
            </a:r>
          </a:p>
        </p:txBody>
      </p:sp>
      <p:sp>
        <p:nvSpPr>
          <p:cNvPr id="4" name="Slide Number Placeholder 3"/>
          <p:cNvSpPr>
            <a:spLocks noGrp="1"/>
          </p:cNvSpPr>
          <p:nvPr>
            <p:ph type="sldNum" sz="quarter" idx="5"/>
          </p:nvPr>
        </p:nvSpPr>
        <p:spPr/>
        <p:txBody>
          <a:bodyPr/>
          <a:lstStyle/>
          <a:p>
            <a:fld id="{228B34ED-4CDD-41C9-90F7-D768D5559A6F}" type="slidenum">
              <a:rPr lang="en-US" smtClean="0"/>
              <a:t>5</a:t>
            </a:fld>
            <a:endParaRPr lang="en-US" dirty="0"/>
          </a:p>
        </p:txBody>
      </p:sp>
    </p:spTree>
    <p:extLst>
      <p:ext uri="{BB962C8B-B14F-4D97-AF65-F5344CB8AC3E}">
        <p14:creationId xmlns:p14="http://schemas.microsoft.com/office/powerpoint/2010/main" val="2285820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must keep in mind the tools used to develop and train AI and realize that less diverse datasets can marginalize certain populations. Continuous oversight of datasets, decision-making, and system results, can help ensure fair decisions and results are provided.</a:t>
            </a:r>
          </a:p>
        </p:txBody>
      </p:sp>
      <p:sp>
        <p:nvSpPr>
          <p:cNvPr id="4" name="Slide Number Placeholder 3"/>
          <p:cNvSpPr>
            <a:spLocks noGrp="1"/>
          </p:cNvSpPr>
          <p:nvPr>
            <p:ph type="sldNum" sz="quarter" idx="5"/>
          </p:nvPr>
        </p:nvSpPr>
        <p:spPr/>
        <p:txBody>
          <a:bodyPr/>
          <a:lstStyle/>
          <a:p>
            <a:fld id="{228B34ED-4CDD-41C9-90F7-D768D5559A6F}" type="slidenum">
              <a:rPr lang="en-US" smtClean="0"/>
              <a:t>6</a:t>
            </a:fld>
            <a:endParaRPr lang="en-US" dirty="0"/>
          </a:p>
        </p:txBody>
      </p:sp>
    </p:spTree>
    <p:extLst>
      <p:ext uri="{BB962C8B-B14F-4D97-AF65-F5344CB8AC3E}">
        <p14:creationId xmlns:p14="http://schemas.microsoft.com/office/powerpoint/2010/main" val="3207678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be used to harm intentionally, and unintentionally. Both safeguards and ethical guidelines must be kept in mind to mitigate these challenges. An example of AI generating propaganda being watermarked so that general population can know it is AI generated.</a:t>
            </a:r>
          </a:p>
        </p:txBody>
      </p:sp>
      <p:sp>
        <p:nvSpPr>
          <p:cNvPr id="4" name="Slide Number Placeholder 3"/>
          <p:cNvSpPr>
            <a:spLocks noGrp="1"/>
          </p:cNvSpPr>
          <p:nvPr>
            <p:ph type="sldNum" sz="quarter" idx="5"/>
          </p:nvPr>
        </p:nvSpPr>
        <p:spPr/>
        <p:txBody>
          <a:bodyPr/>
          <a:lstStyle/>
          <a:p>
            <a:fld id="{228B34ED-4CDD-41C9-90F7-D768D5559A6F}" type="slidenum">
              <a:rPr lang="en-US" smtClean="0"/>
              <a:t>7</a:t>
            </a:fld>
            <a:endParaRPr lang="en-US" dirty="0"/>
          </a:p>
        </p:txBody>
      </p:sp>
    </p:spTree>
    <p:extLst>
      <p:ext uri="{BB962C8B-B14F-4D97-AF65-F5344CB8AC3E}">
        <p14:creationId xmlns:p14="http://schemas.microsoft.com/office/powerpoint/2010/main" val="19423272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challenges continue to evolve. Algorithmic monoculture can create biased decision-making, AI’s benefits are not evenly distributed globally, and misinformation is a growing threat.</a:t>
            </a:r>
          </a:p>
        </p:txBody>
      </p:sp>
      <p:sp>
        <p:nvSpPr>
          <p:cNvPr id="4" name="Slide Number Placeholder 3"/>
          <p:cNvSpPr>
            <a:spLocks noGrp="1"/>
          </p:cNvSpPr>
          <p:nvPr>
            <p:ph type="sldNum" sz="quarter" idx="10"/>
          </p:nvPr>
        </p:nvSpPr>
        <p:spPr/>
        <p:txBody>
          <a:bodyPr/>
          <a:lstStyle/>
          <a:p>
            <a:fld id="{228B34ED-4CDD-41C9-90F7-D768D5559A6F}" type="slidenum">
              <a:rPr lang="en-US" smtClean="0"/>
              <a:t>8</a:t>
            </a:fld>
            <a:endParaRPr lang="en-US" dirty="0"/>
          </a:p>
        </p:txBody>
      </p:sp>
    </p:spTree>
    <p:extLst>
      <p:ext uri="{BB962C8B-B14F-4D97-AF65-F5344CB8AC3E}">
        <p14:creationId xmlns:p14="http://schemas.microsoft.com/office/powerpoint/2010/main" val="13600104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emphasizes transparency, accountability, fairness, and global cooperation to ensure AI benefits all of humanity in an ethical manner.</a:t>
            </a:r>
          </a:p>
        </p:txBody>
      </p:sp>
      <p:sp>
        <p:nvSpPr>
          <p:cNvPr id="4" name="Slide Number Placeholder 3"/>
          <p:cNvSpPr>
            <a:spLocks noGrp="1"/>
          </p:cNvSpPr>
          <p:nvPr>
            <p:ph type="sldNum" sz="quarter" idx="5"/>
          </p:nvPr>
        </p:nvSpPr>
        <p:spPr/>
        <p:txBody>
          <a:bodyPr/>
          <a:lstStyle/>
          <a:p>
            <a:fld id="{228B34ED-4CDD-41C9-90F7-D768D5559A6F}" type="slidenum">
              <a:rPr lang="en-US" smtClean="0"/>
              <a:t>9</a:t>
            </a:fld>
            <a:endParaRPr lang="en-US" dirty="0"/>
          </a:p>
        </p:txBody>
      </p:sp>
    </p:spTree>
    <p:extLst>
      <p:ext uri="{BB962C8B-B14F-4D97-AF65-F5344CB8AC3E}">
        <p14:creationId xmlns:p14="http://schemas.microsoft.com/office/powerpoint/2010/main" val="1613781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30F63-A980-8204-5CF2-0927114BB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AE1CA-66E3-8D05-36B9-03F32F062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55BC2F-4BC1-B766-9E19-7E33E981D1D4}"/>
              </a:ext>
            </a:extLst>
          </p:cNvPr>
          <p:cNvSpPr>
            <a:spLocks noGrp="1"/>
          </p:cNvSpPr>
          <p:nvPr>
            <p:ph type="body" idx="1"/>
          </p:nvPr>
        </p:nvSpPr>
        <p:spPr/>
        <p:txBody>
          <a:bodyPr/>
          <a:lstStyle/>
          <a:p>
            <a:r>
              <a:rPr lang="en-US" dirty="0"/>
              <a:t>Ethical AI development is essential to prevent bias, harm, misinformation, and corruption. This can only be accomplished through a global effort of establishing AI development standards, consistent review, and auditing. Thank you.</a:t>
            </a:r>
          </a:p>
        </p:txBody>
      </p:sp>
      <p:sp>
        <p:nvSpPr>
          <p:cNvPr id="4" name="Slide Number Placeholder 3">
            <a:extLst>
              <a:ext uri="{FF2B5EF4-FFF2-40B4-BE49-F238E27FC236}">
                <a16:creationId xmlns:a16="http://schemas.microsoft.com/office/drawing/2014/main" id="{E7B3D544-D547-56DE-B0F1-F462450AE629}"/>
              </a:ext>
            </a:extLst>
          </p:cNvPr>
          <p:cNvSpPr>
            <a:spLocks noGrp="1"/>
          </p:cNvSpPr>
          <p:nvPr>
            <p:ph type="sldNum" sz="quarter" idx="5"/>
          </p:nvPr>
        </p:nvSpPr>
        <p:spPr/>
        <p:txBody>
          <a:bodyPr/>
          <a:lstStyle/>
          <a:p>
            <a:fld id="{228B34ED-4CDD-41C9-90F7-D768D5559A6F}" type="slidenum">
              <a:rPr lang="en-US" smtClean="0"/>
              <a:t>10</a:t>
            </a:fld>
            <a:endParaRPr lang="en-US" dirty="0"/>
          </a:p>
        </p:txBody>
      </p:sp>
    </p:spTree>
    <p:extLst>
      <p:ext uri="{BB962C8B-B14F-4D97-AF65-F5344CB8AC3E}">
        <p14:creationId xmlns:p14="http://schemas.microsoft.com/office/powerpoint/2010/main" val="2872390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50000"/>
            <a:lumOff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0BA6BF3-4577-A4F2-7E66-118C0F007728}"/>
              </a:ext>
            </a:extLst>
          </p:cNvPr>
          <p:cNvSpPr/>
          <p:nvPr/>
        </p:nvSpPr>
        <p:spPr>
          <a:xfrm>
            <a:off x="621960" y="4478615"/>
            <a:ext cx="4597167" cy="302004"/>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39F4DD3-29A7-7D83-560D-2DCFE2DBDFB2}"/>
              </a:ext>
            </a:extLst>
          </p:cNvPr>
          <p:cNvSpPr/>
          <p:nvPr/>
        </p:nvSpPr>
        <p:spPr>
          <a:xfrm>
            <a:off x="536895" y="2256639"/>
            <a:ext cx="11090246" cy="14932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5" y="2498242"/>
            <a:ext cx="11490325" cy="823913"/>
          </a:xfrm>
        </p:spPr>
        <p:txBody>
          <a:bodyPr/>
          <a:lstStyle/>
          <a:p>
            <a:r>
              <a:rPr lang="en-US" dirty="0"/>
              <a:t>Ethical Considerations and Concerns over the rapid development of ai</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498361" y="5485955"/>
            <a:ext cx="5167313" cy="518795"/>
          </a:xfrm>
        </p:spPr>
        <p:txBody>
          <a:bodyPr/>
          <a:lstStyle/>
          <a:p>
            <a:r>
              <a:rPr lang="en-US" dirty="0">
                <a:solidFill>
                  <a:schemeClr val="bg1">
                    <a:lumMod val="95000"/>
                    <a:lumOff val="5000"/>
                  </a:schemeClr>
                </a:solidFill>
              </a:rPr>
              <a:t>NICOLAS BUSTAMANTE 02/26/2025</a:t>
            </a:r>
          </a:p>
        </p:txBody>
      </p:sp>
      <p:sp>
        <p:nvSpPr>
          <p:cNvPr id="7" name="Text Placeholder 6">
            <a:extLst>
              <a:ext uri="{FF2B5EF4-FFF2-40B4-BE49-F238E27FC236}">
                <a16:creationId xmlns:a16="http://schemas.microsoft.com/office/drawing/2014/main" id="{5D865526-EC39-4780-A2A8-274A80A5C19B}"/>
              </a:ext>
            </a:extLst>
          </p:cNvPr>
          <p:cNvSpPr>
            <a:spLocks noGrp="1"/>
          </p:cNvSpPr>
          <p:nvPr>
            <p:ph type="body" idx="1"/>
          </p:nvPr>
        </p:nvSpPr>
        <p:spPr>
          <a:xfrm>
            <a:off x="4038598" y="4077047"/>
            <a:ext cx="4107112" cy="939570"/>
          </a:xfrm>
          <a:solidFill>
            <a:schemeClr val="bg1">
              <a:lumMod val="95000"/>
              <a:lumOff val="5000"/>
            </a:schemeClr>
          </a:solidFill>
        </p:spPr>
        <p:txBody>
          <a:bodyPr/>
          <a:lstStyle/>
          <a:p>
            <a:r>
              <a:rPr lang="en-US" dirty="0"/>
              <a:t>Balancing innovation with responsible development</a:t>
            </a:r>
          </a:p>
        </p:txBody>
      </p:sp>
    </p:spTree>
    <p:extLst>
      <p:ext uri="{BB962C8B-B14F-4D97-AF65-F5344CB8AC3E}">
        <p14:creationId xmlns:p14="http://schemas.microsoft.com/office/powerpoint/2010/main" val="3927832306"/>
      </p:ext>
    </p:extLst>
  </p:cSld>
  <p:clrMapOvr>
    <a:masterClrMapping/>
  </p:clrMapOvr>
  <mc:AlternateContent xmlns:mc="http://schemas.openxmlformats.org/markup-compatibility/2006" xmlns:p14="http://schemas.microsoft.com/office/powerpoint/2010/main">
    <mc:Choice Requires="p14">
      <p:transition spd="slow" p14:dur="2000" advTm="69384"/>
    </mc:Choice>
    <mc:Fallback xmlns="">
      <p:transition spd="slow" advTm="6938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a:lum/>
          </a:blip>
          <a:srcRect/>
          <a:stretch>
            <a:fillRect t="-9000" b="-9000"/>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B74D89BD-53C7-A998-F5A1-34812799A7BE}"/>
              </a:ext>
            </a:extLst>
          </p:cNvPr>
          <p:cNvSpPr>
            <a:spLocks noGrp="1"/>
          </p:cNvSpPr>
          <p:nvPr>
            <p:ph type="title"/>
          </p:nvPr>
        </p:nvSpPr>
        <p:spPr>
          <a:xfrm>
            <a:off x="1156851" y="637762"/>
            <a:ext cx="9888496" cy="900131"/>
          </a:xfrm>
        </p:spPr>
        <p:txBody>
          <a:bodyPr vert="horz" lIns="91440" tIns="45720" rIns="91440" bIns="45720" rtlCol="0" anchor="t">
            <a:normAutofit/>
          </a:bodyPr>
          <a:lstStyle/>
          <a:p>
            <a:pPr algn="l">
              <a:lnSpc>
                <a:spcPct val="90000"/>
              </a:lnSpc>
            </a:pPr>
            <a:r>
              <a:rPr lang="en-US" sz="4000" kern="1200" dirty="0">
                <a:solidFill>
                  <a:schemeClr val="bg1"/>
                </a:solidFill>
                <a:latin typeface="+mj-lt"/>
                <a:ea typeface="+mj-ea"/>
                <a:cs typeface="+mj-cs"/>
              </a:rPr>
              <a:t>Introduction</a:t>
            </a:r>
          </a:p>
        </p:txBody>
      </p:sp>
      <p:sp>
        <p:nvSpPr>
          <p:cNvPr id="18" name="Rectangle 17">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1"/>
          </p:nvPr>
        </p:nvSpPr>
        <p:spPr>
          <a:xfrm>
            <a:off x="11035149" y="6220238"/>
            <a:ext cx="672957" cy="343768"/>
          </a:xfrm>
        </p:spPr>
        <p:txBody>
          <a:bodyPr vert="horz" lIns="91440" tIns="45720" rIns="91440" bIns="45720" rtlCol="0" anchor="ctr">
            <a:normAutofit/>
          </a:bodyPr>
          <a:lstStyle/>
          <a:p>
            <a:pPr algn="ctr">
              <a:spcAft>
                <a:spcPts val="600"/>
              </a:spcAft>
            </a:pPr>
            <a:fld id="{8C2E478F-E849-4A8C-AF1F-CBCC78A7CBFA}" type="slidenum">
              <a:rPr lang="en-US" sz="1400">
                <a:solidFill>
                  <a:schemeClr val="tx1"/>
                </a:solidFill>
              </a:rPr>
              <a:pPr algn="ctr">
                <a:spcAft>
                  <a:spcPts val="600"/>
                </a:spcAft>
              </a:pPr>
              <a:t>2</a:t>
            </a:fld>
            <a:endParaRPr lang="en-US" sz="1400" dirty="0">
              <a:solidFill>
                <a:schemeClr val="tx1"/>
              </a:solidFill>
            </a:endParaRPr>
          </a:p>
        </p:txBody>
      </p:sp>
      <p:sp>
        <p:nvSpPr>
          <p:cNvPr id="11" name="Text Placeholder 10">
            <a:extLst>
              <a:ext uri="{FF2B5EF4-FFF2-40B4-BE49-F238E27FC236}">
                <a16:creationId xmlns:a16="http://schemas.microsoft.com/office/drawing/2014/main" id="{9372D383-775C-4F84-DB0B-03E9905795C1}"/>
              </a:ext>
            </a:extLst>
          </p:cNvPr>
          <p:cNvSpPr>
            <a:spLocks noGrp="1"/>
          </p:cNvSpPr>
          <p:nvPr>
            <p:ph type="body" sz="quarter" idx="4294967295"/>
          </p:nvPr>
        </p:nvSpPr>
        <p:spPr>
          <a:xfrm>
            <a:off x="1154256" y="2392437"/>
            <a:ext cx="9880893" cy="3959619"/>
          </a:xfrm>
        </p:spPr>
        <p:txBody>
          <a:bodyPr vert="horz" lIns="91440" tIns="45720" rIns="91440" bIns="45720" rtlCol="0">
            <a:normAutofit lnSpcReduction="10000"/>
          </a:bodyPr>
          <a:lstStyle/>
          <a:p>
            <a:pPr>
              <a:lnSpc>
                <a:spcPct val="90000"/>
              </a:lnSpc>
            </a:pPr>
            <a:r>
              <a:rPr lang="en-US" sz="2800" dirty="0"/>
              <a:t>What is AI?</a:t>
            </a:r>
          </a:p>
          <a:p>
            <a:pPr lvl="1">
              <a:lnSpc>
                <a:spcPct val="90000"/>
              </a:lnSpc>
            </a:pPr>
            <a:r>
              <a:rPr lang="en-US" sz="2800" dirty="0"/>
              <a:t>AI (Artificial Intelligence) is a system of algorithmic expressions that are can make decisions, recognize speech, and conduct analysis. AI has a variety of technical applications from natural language processing to task automation. </a:t>
            </a:r>
          </a:p>
          <a:p>
            <a:pPr>
              <a:lnSpc>
                <a:spcPct val="90000"/>
              </a:lnSpc>
            </a:pPr>
            <a:r>
              <a:rPr lang="en-US" sz="2800" dirty="0"/>
              <a:t>Why Ethics Matter:</a:t>
            </a:r>
          </a:p>
          <a:p>
            <a:pPr lvl="1">
              <a:lnSpc>
                <a:spcPct val="90000"/>
              </a:lnSpc>
            </a:pPr>
            <a:r>
              <a:rPr lang="en-US" sz="2800" dirty="0"/>
              <a:t>To ensure safety, security, accountability, transparency and human-centric ideology in AI’s use and development.</a:t>
            </a:r>
          </a:p>
          <a:p>
            <a:pPr>
              <a:lnSpc>
                <a:spcPct val="90000"/>
              </a:lnSpc>
            </a:pPr>
            <a:r>
              <a:rPr lang="en-US" sz="2800" dirty="0"/>
              <a:t>Key Ethical Questions: Who is accountable? How do we prevent harm?</a:t>
            </a:r>
          </a:p>
        </p:txBody>
      </p:sp>
    </p:spTree>
    <p:extLst>
      <p:ext uri="{BB962C8B-B14F-4D97-AF65-F5344CB8AC3E}">
        <p14:creationId xmlns:p14="http://schemas.microsoft.com/office/powerpoint/2010/main" val="1649098948"/>
      </p:ext>
    </p:extLst>
  </p:cSld>
  <p:clrMapOvr>
    <a:masterClrMapping/>
  </p:clrMapOvr>
  <mc:AlternateContent xmlns:mc="http://schemas.openxmlformats.org/markup-compatibility/2006" xmlns:p14="http://schemas.microsoft.com/office/powerpoint/2010/main">
    <mc:Choice Requires="p14">
      <p:transition spd="slow" p14:dur="2000" advTm="91165"/>
    </mc:Choice>
    <mc:Fallback xmlns="">
      <p:transition spd="slow" advTm="9116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898989"/>
            </a:gs>
            <a:gs pos="100000">
              <a:schemeClr val="accent6"/>
            </a:gs>
            <a:gs pos="98000">
              <a:schemeClr val="tx1">
                <a:lumMod val="65000"/>
                <a:lumOff val="35000"/>
              </a:schemeClr>
            </a:gs>
          </a:gsLst>
          <a:path path="rect">
            <a:fillToRect t="100000" r="100000"/>
          </a:path>
          <a:tileRect l="-100000" b="-100000"/>
        </a:gra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0">
            <a:extLst>
              <a:ext uri="{FF2B5EF4-FFF2-40B4-BE49-F238E27FC236}">
                <a16:creationId xmlns:a16="http://schemas.microsoft.com/office/drawing/2014/main" id="{42F15FA7-8B7C-F8E7-F3FE-6EF7247A5330}"/>
              </a:ext>
            </a:extLst>
          </p:cNvPr>
          <p:cNvSpPr>
            <a:spLocks noGrp="1"/>
          </p:cNvSpPr>
          <p:nvPr>
            <p:ph type="title"/>
          </p:nvPr>
        </p:nvSpPr>
        <p:spPr>
          <a:xfrm>
            <a:off x="4058652" y="365125"/>
            <a:ext cx="4551948" cy="884835"/>
          </a:xfrm>
        </p:spPr>
        <p:txBody>
          <a:bodyPr vert="horz" lIns="91440" tIns="45720" rIns="91440" bIns="45720" rtlCol="0" anchor="ctr">
            <a:noAutofit/>
          </a:bodyPr>
          <a:lstStyle/>
          <a:p>
            <a:pPr>
              <a:lnSpc>
                <a:spcPct val="90000"/>
              </a:lnSpc>
              <a:spcBef>
                <a:spcPct val="0"/>
              </a:spcBef>
            </a:pPr>
            <a:r>
              <a:rPr lang="en-US" sz="4000" b="1" dirty="0"/>
              <a:t>Ethical Principles in AI Development</a:t>
            </a:r>
          </a:p>
        </p:txBody>
      </p:sp>
      <p:sp>
        <p:nvSpPr>
          <p:cNvPr id="9" name="Content Placeholder 8">
            <a:extLst>
              <a:ext uri="{FF2B5EF4-FFF2-40B4-BE49-F238E27FC236}">
                <a16:creationId xmlns:a16="http://schemas.microsoft.com/office/drawing/2014/main" id="{256319DF-036A-473B-95D3-C5F6FF849FD4}"/>
              </a:ext>
            </a:extLst>
          </p:cNvPr>
          <p:cNvSpPr>
            <a:spLocks noGrp="1"/>
          </p:cNvSpPr>
          <p:nvPr>
            <p:ph idx="1"/>
          </p:nvPr>
        </p:nvSpPr>
        <p:spPr>
          <a:xfrm>
            <a:off x="676470" y="1874940"/>
            <a:ext cx="11316312" cy="2179040"/>
          </a:xfr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lIns="91440" tIns="45720" rIns="91440" bIns="45720" rtlCol="0">
            <a:normAutofit lnSpcReduction="10000"/>
          </a:bodyPr>
          <a:lstStyle/>
          <a:p>
            <a:pPr marL="0">
              <a:lnSpc>
                <a:spcPct val="90000"/>
              </a:lnSpc>
            </a:pPr>
            <a:r>
              <a:rPr lang="en-US" sz="3200" dirty="0"/>
              <a:t>Transparency and Explainability</a:t>
            </a:r>
          </a:p>
          <a:p>
            <a:pPr marL="0">
              <a:lnSpc>
                <a:spcPct val="90000"/>
              </a:lnSpc>
            </a:pPr>
            <a:r>
              <a:rPr lang="en-US" sz="3200" dirty="0"/>
              <a:t>Accountability</a:t>
            </a:r>
          </a:p>
          <a:p>
            <a:pPr marL="0">
              <a:lnSpc>
                <a:spcPct val="90000"/>
              </a:lnSpc>
            </a:pPr>
            <a:r>
              <a:rPr lang="en-US" sz="3200" dirty="0"/>
              <a:t>Fairness and Non-Discrimination</a:t>
            </a:r>
          </a:p>
          <a:p>
            <a:pPr marL="0">
              <a:lnSpc>
                <a:spcPct val="90000"/>
              </a:lnSpc>
            </a:pPr>
            <a:r>
              <a:rPr lang="en-US" sz="3200" dirty="0"/>
              <a:t>Prevention of Harm</a:t>
            </a:r>
          </a:p>
          <a:p>
            <a:pPr marL="457200" lvl="1">
              <a:lnSpc>
                <a:spcPct val="90000"/>
              </a:lnSpc>
            </a:pPr>
            <a:endParaRPr lang="en-US" sz="1600" dirty="0"/>
          </a:p>
          <a:p>
            <a:pPr marL="0">
              <a:lnSpc>
                <a:spcPct val="90000"/>
              </a:lnSpc>
            </a:pPr>
            <a:endParaRPr lang="en-US" sz="2000" dirty="0"/>
          </a:p>
        </p:txBody>
      </p:sp>
      <p:sp>
        <p:nvSpPr>
          <p:cNvPr id="4" name="Slide Number Placeholder 3">
            <a:extLst>
              <a:ext uri="{FF2B5EF4-FFF2-40B4-BE49-F238E27FC236}">
                <a16:creationId xmlns:a16="http://schemas.microsoft.com/office/drawing/2014/main" id="{A4BADA18-8F0E-4249-A144-6CB8259BA65B}"/>
              </a:ext>
            </a:extLst>
          </p:cNvPr>
          <p:cNvSpPr>
            <a:spLocks noGrp="1"/>
          </p:cNvSpPr>
          <p:nvPr>
            <p:ph type="sldNum" sz="quarter" idx="4"/>
          </p:nvPr>
        </p:nvSpPr>
        <p:spPr>
          <a:xfrm>
            <a:off x="8610600" y="6356350"/>
            <a:ext cx="2743200" cy="365125"/>
          </a:xfrm>
        </p:spPr>
        <p:txBody>
          <a:bodyPr vert="horz" lIns="91440" tIns="45720" rIns="91440" bIns="45720" rtlCol="0" anchor="ctr">
            <a:normAutofit/>
          </a:bodyPr>
          <a:lstStyle/>
          <a:p>
            <a:pPr>
              <a:spcAft>
                <a:spcPts val="600"/>
              </a:spcAft>
              <a:defRPr/>
            </a:pPr>
            <a:fld id="{8C2E478F-E849-4A8C-AF1F-CBCC78A7CBFA}" type="slidenum">
              <a:rPr lang="en-US">
                <a:solidFill>
                  <a:srgbClr val="FFFFFF"/>
                </a:solidFill>
                <a:latin typeface="Calibri" panose="020F0502020204030204"/>
              </a:rPr>
              <a:pPr>
                <a:spcAft>
                  <a:spcPts val="600"/>
                </a:spcAft>
                <a:defRPr/>
              </a:pPr>
              <a:t>3</a:t>
            </a:fld>
            <a:endParaRPr lang="en-US">
              <a:solidFill>
                <a:srgbClr val="FFFFFF"/>
              </a:solidFill>
              <a:latin typeface="Calibri" panose="020F0502020204030204"/>
            </a:endParaRPr>
          </a:p>
        </p:txBody>
      </p:sp>
    </p:spTree>
    <p:extLst>
      <p:ext uri="{BB962C8B-B14F-4D97-AF65-F5344CB8AC3E}">
        <p14:creationId xmlns:p14="http://schemas.microsoft.com/office/powerpoint/2010/main" val="1325373587"/>
      </p:ext>
    </p:extLst>
  </p:cSld>
  <p:clrMapOvr>
    <a:masterClrMapping/>
  </p:clrMapOvr>
  <mc:AlternateContent xmlns:mc="http://schemas.openxmlformats.org/markup-compatibility/2006" xmlns:p14="http://schemas.microsoft.com/office/powerpoint/2010/main">
    <mc:Choice Requires="p14">
      <p:transition spd="slow" p14:dur="2000" advTm="124960"/>
    </mc:Choice>
    <mc:Fallback xmlns="">
      <p:transition spd="slow" advTm="1249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898989"/>
            </a:gs>
            <a:gs pos="100000">
              <a:schemeClr val="accent6"/>
            </a:gs>
            <a:gs pos="98000">
              <a:schemeClr val="tx1">
                <a:lumMod val="65000"/>
                <a:lumOff val="35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24B42B-925B-494C-A986-BD85E8117E1E}"/>
              </a:ext>
            </a:extLst>
          </p:cNvPr>
          <p:cNvSpPr>
            <a:spLocks noGrp="1"/>
          </p:cNvSpPr>
          <p:nvPr>
            <p:ph type="title"/>
          </p:nvPr>
        </p:nvSpPr>
        <p:spPr>
          <a:xfrm>
            <a:off x="0" y="-33752"/>
            <a:ext cx="12191999" cy="1101182"/>
          </a:xfrm>
          <a:solidFill>
            <a:schemeClr val="tx1"/>
          </a:solidFill>
        </p:spPr>
        <p:txBody>
          <a:bodyPr>
            <a:normAutofit/>
          </a:bodyPr>
          <a:lstStyle/>
          <a:p>
            <a:r>
              <a:rPr lang="en-US" sz="4000" b="1" dirty="0">
                <a:solidFill>
                  <a:schemeClr val="bg1"/>
                </a:solidFill>
              </a:rPr>
              <a:t>Transparency and Explainability</a:t>
            </a:r>
          </a:p>
        </p:txBody>
      </p:sp>
      <p:sp>
        <p:nvSpPr>
          <p:cNvPr id="5" name="TextBox 4">
            <a:extLst>
              <a:ext uri="{FF2B5EF4-FFF2-40B4-BE49-F238E27FC236}">
                <a16:creationId xmlns:a16="http://schemas.microsoft.com/office/drawing/2014/main" id="{739AEAE5-7018-3AA7-2BFC-D2BFF9978917}"/>
              </a:ext>
            </a:extLst>
          </p:cNvPr>
          <p:cNvSpPr txBox="1"/>
          <p:nvPr/>
        </p:nvSpPr>
        <p:spPr>
          <a:xfrm>
            <a:off x="256674" y="1315453"/>
            <a:ext cx="11694694" cy="3539430"/>
          </a:xfrm>
          <a:prstGeom prst="rect">
            <a:avLst/>
          </a:prstGeom>
          <a:noFill/>
        </p:spPr>
        <p:txBody>
          <a:bodyPr wrap="square">
            <a:spAutoFit/>
          </a:bodyPr>
          <a:lstStyle/>
          <a:p>
            <a:pPr>
              <a:buFont typeface="Arial" panose="020B0604020202020204" pitchFamily="34" charset="0"/>
              <a:buChar char="•"/>
            </a:pPr>
            <a:r>
              <a:rPr lang="en-US" sz="3200" b="1" dirty="0"/>
              <a:t>Definition:</a:t>
            </a:r>
            <a:r>
              <a:rPr lang="en-US" sz="3200" dirty="0"/>
              <a:t> Making AI’s decision-making process understandable.</a:t>
            </a:r>
          </a:p>
          <a:p>
            <a:pPr>
              <a:buFont typeface="Arial" panose="020B0604020202020204" pitchFamily="34" charset="0"/>
              <a:buChar char="•"/>
            </a:pPr>
            <a:r>
              <a:rPr lang="en-US" sz="3200" b="1" dirty="0"/>
              <a:t>Challenges:</a:t>
            </a:r>
            <a:r>
              <a:rPr lang="en-US" sz="3200" dirty="0"/>
              <a:t> Complex algorithms limit interpretability between experts and users.</a:t>
            </a:r>
          </a:p>
          <a:p>
            <a:pPr>
              <a:buFont typeface="Arial" panose="020B0604020202020204" pitchFamily="34" charset="0"/>
              <a:buChar char="•"/>
            </a:pPr>
            <a:r>
              <a:rPr lang="en-US" sz="3200" b="1" dirty="0"/>
              <a:t>Solution:</a:t>
            </a:r>
            <a:r>
              <a:rPr lang="en-US" sz="3200" dirty="0"/>
              <a:t> Implement Explainable AI (XAI) frameworks. Using AI to analyze AI.</a:t>
            </a:r>
          </a:p>
          <a:p>
            <a:pPr>
              <a:buFont typeface="Arial" panose="020B0604020202020204" pitchFamily="34" charset="0"/>
              <a:buChar char="•"/>
            </a:pPr>
            <a:r>
              <a:rPr lang="en-US" sz="3200" b="1" dirty="0"/>
              <a:t>Example:</a:t>
            </a:r>
            <a:r>
              <a:rPr lang="en-US" sz="3200" dirty="0"/>
              <a:t> AI in criminal justice must justify decisions affecting and impacting lives.</a:t>
            </a:r>
          </a:p>
        </p:txBody>
      </p:sp>
    </p:spTree>
    <p:extLst>
      <p:ext uri="{BB962C8B-B14F-4D97-AF65-F5344CB8AC3E}">
        <p14:creationId xmlns:p14="http://schemas.microsoft.com/office/powerpoint/2010/main" val="2944765398"/>
      </p:ext>
    </p:extLst>
  </p:cSld>
  <p:clrMapOvr>
    <a:masterClrMapping/>
  </p:clrMapOvr>
  <mc:AlternateContent xmlns:mc="http://schemas.openxmlformats.org/markup-compatibility/2006" xmlns:p14="http://schemas.microsoft.com/office/powerpoint/2010/main">
    <mc:Choice Requires="p14">
      <p:transition spd="slow" p14:dur="2000" advTm="121885"/>
    </mc:Choice>
    <mc:Fallback xmlns="">
      <p:transition spd="slow" advTm="12188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898989"/>
            </a:gs>
            <a:gs pos="100000">
              <a:schemeClr val="accent6"/>
            </a:gs>
            <a:gs pos="98000">
              <a:schemeClr val="tx1">
                <a:lumMod val="65000"/>
                <a:lumOff val="35000"/>
              </a:schemeClr>
            </a:gs>
          </a:gsLst>
          <a:path path="rect">
            <a:fillToRect l="100000" t="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DA247-2F35-4FB8-903D-FB32D7B852D9}"/>
              </a:ext>
            </a:extLst>
          </p:cNvPr>
          <p:cNvSpPr>
            <a:spLocks noGrp="1"/>
          </p:cNvSpPr>
          <p:nvPr>
            <p:ph type="title"/>
          </p:nvPr>
        </p:nvSpPr>
        <p:spPr>
          <a:xfrm>
            <a:off x="1696568" y="277269"/>
            <a:ext cx="8798863" cy="823913"/>
          </a:xfrm>
          <a:solidFill>
            <a:schemeClr val="tx1">
              <a:lumMod val="95000"/>
              <a:lumOff val="5000"/>
              <a:alpha val="46000"/>
            </a:schemeClr>
          </a:solidFill>
        </p:spPr>
        <p:txBody>
          <a:bodyPr/>
          <a:lstStyle/>
          <a:p>
            <a:r>
              <a:rPr lang="en-US" sz="4000" b="1" dirty="0">
                <a:solidFill>
                  <a:schemeClr val="bg1"/>
                </a:solidFill>
              </a:rPr>
              <a:t>AI Accountability</a:t>
            </a:r>
          </a:p>
        </p:txBody>
      </p:sp>
      <p:sp>
        <p:nvSpPr>
          <p:cNvPr id="3" name="Slide Number Placeholder 2">
            <a:extLst>
              <a:ext uri="{FF2B5EF4-FFF2-40B4-BE49-F238E27FC236}">
                <a16:creationId xmlns:a16="http://schemas.microsoft.com/office/drawing/2014/main" id="{FBDE7135-9153-4AEB-AC1F-4B951B7A76F2}"/>
              </a:ext>
            </a:extLst>
          </p:cNvPr>
          <p:cNvSpPr>
            <a:spLocks noGrp="1"/>
          </p:cNvSpPr>
          <p:nvPr>
            <p:ph type="sldNum" sz="quarter" idx="11"/>
          </p:nvPr>
        </p:nvSpPr>
        <p:spPr/>
        <p:txBody>
          <a:bodyPr/>
          <a:lstStyle/>
          <a:p>
            <a:fld id="{8C2E478F-E849-4A8C-AF1F-CBCC78A7CBFA}" type="slidenum">
              <a:rPr lang="en-US" smtClean="0"/>
              <a:pPr/>
              <a:t>5</a:t>
            </a:fld>
            <a:endParaRPr lang="en-US" dirty="0"/>
          </a:p>
        </p:txBody>
      </p:sp>
      <p:sp>
        <p:nvSpPr>
          <p:cNvPr id="8" name="TextBox 7">
            <a:extLst>
              <a:ext uri="{FF2B5EF4-FFF2-40B4-BE49-F238E27FC236}">
                <a16:creationId xmlns:a16="http://schemas.microsoft.com/office/drawing/2014/main" id="{79DA707E-1FB5-E2F5-BEC2-57A0FAD2914D}"/>
              </a:ext>
            </a:extLst>
          </p:cNvPr>
          <p:cNvSpPr txBox="1"/>
          <p:nvPr/>
        </p:nvSpPr>
        <p:spPr>
          <a:xfrm>
            <a:off x="104776" y="1219200"/>
            <a:ext cx="12087224" cy="5262979"/>
          </a:xfrm>
          <a:prstGeom prst="rect">
            <a:avLst/>
          </a:prstGeom>
          <a:solidFill>
            <a:schemeClr val="bg1">
              <a:alpha val="44000"/>
            </a:schemeClr>
          </a:solidFill>
          <a:effectLst>
            <a:glow>
              <a:schemeClr val="accent1">
                <a:alpha val="40000"/>
              </a:schemeClr>
            </a:glow>
          </a:effectLst>
        </p:spPr>
        <p:txBody>
          <a:bodyPr wrap="square" rtlCol="0">
            <a:spAutoFit/>
          </a:bodyPr>
          <a:lstStyle/>
          <a:p>
            <a:pPr marL="342900" indent="-342900">
              <a:buFont typeface="Arial" panose="020B0604020202020204" pitchFamily="34" charset="0"/>
              <a:buChar char="•"/>
            </a:pPr>
            <a:r>
              <a:rPr lang="en-US" sz="2800" b="1" dirty="0">
                <a:solidFill>
                  <a:schemeClr val="tx1">
                    <a:lumMod val="95000"/>
                    <a:lumOff val="5000"/>
                  </a:schemeClr>
                </a:solidFill>
                <a:effectLst>
                  <a:innerShdw blurRad="63500" dist="50800" dir="10800000">
                    <a:prstClr val="black">
                      <a:alpha val="50000"/>
                    </a:prstClr>
                  </a:innerShdw>
                </a:effectLst>
              </a:rPr>
              <a:t>Definition</a:t>
            </a:r>
          </a:p>
          <a:p>
            <a:r>
              <a:rPr lang="en-US" sz="2800" dirty="0"/>
              <a:t>Holding AI developers and users responsible for AI implementation and usage.</a:t>
            </a:r>
          </a:p>
          <a:p>
            <a:pPr marL="342900" indent="-342900">
              <a:buFont typeface="Arial" panose="020B0604020202020204" pitchFamily="34" charset="0"/>
              <a:buChar char="•"/>
            </a:pPr>
            <a:r>
              <a:rPr lang="en-US" sz="2800" b="1" dirty="0">
                <a:solidFill>
                  <a:schemeClr val="tx1">
                    <a:lumMod val="95000"/>
                    <a:lumOff val="5000"/>
                  </a:schemeClr>
                </a:solidFill>
                <a:effectLst>
                  <a:innerShdw blurRad="63500" dist="50800" dir="10800000">
                    <a:prstClr val="black">
                      <a:alpha val="50000"/>
                    </a:prstClr>
                  </a:innerShdw>
                </a:effectLst>
              </a:rPr>
              <a:t>Risks</a:t>
            </a:r>
          </a:p>
          <a:p>
            <a:r>
              <a:rPr lang="en-US" sz="2800" dirty="0"/>
              <a:t>Implementing and allowing AI to make decisions (more so in critical sectors) without oversight.</a:t>
            </a:r>
          </a:p>
          <a:p>
            <a:pPr marL="342900" indent="-342900">
              <a:buFont typeface="Arial" panose="020B0604020202020204" pitchFamily="34" charset="0"/>
              <a:buChar char="•"/>
            </a:pPr>
            <a:r>
              <a:rPr lang="en-US" sz="2800" b="1" dirty="0">
                <a:solidFill>
                  <a:schemeClr val="tx1">
                    <a:lumMod val="95000"/>
                    <a:lumOff val="5000"/>
                  </a:schemeClr>
                </a:solidFill>
                <a:effectLst>
                  <a:innerShdw blurRad="63500" dist="50800" dir="10800000">
                    <a:prstClr val="black">
                      <a:alpha val="50000"/>
                    </a:prstClr>
                  </a:innerShdw>
                </a:effectLst>
              </a:rPr>
              <a:t>Solutions</a:t>
            </a:r>
          </a:p>
          <a:p>
            <a:r>
              <a:rPr lang="en-US" sz="2800" dirty="0"/>
              <a:t>Implement a standard global governance framework along with algorithm and decision audits.</a:t>
            </a:r>
          </a:p>
          <a:p>
            <a:pPr marL="342900" indent="-342900">
              <a:buFont typeface="Arial" panose="020B0604020202020204" pitchFamily="34" charset="0"/>
              <a:buChar char="•"/>
            </a:pPr>
            <a:r>
              <a:rPr lang="en-US" sz="2800" b="1" dirty="0">
                <a:solidFill>
                  <a:schemeClr val="tx1">
                    <a:lumMod val="95000"/>
                    <a:lumOff val="5000"/>
                  </a:schemeClr>
                </a:solidFill>
                <a:effectLst>
                  <a:innerShdw blurRad="63500" dist="50800" dir="10800000">
                    <a:prstClr val="black">
                      <a:alpha val="50000"/>
                    </a:prstClr>
                  </a:innerShdw>
                </a:effectLst>
              </a:rPr>
              <a:t>Example</a:t>
            </a:r>
          </a:p>
          <a:p>
            <a:r>
              <a:rPr lang="en-US" sz="2800" dirty="0"/>
              <a:t>Amazon incorporates recruitment system that favors male applicants due to unconscious bias in AI dataset. Amazon audits the system and either abolishes its usage or modifies system’s framework.</a:t>
            </a:r>
          </a:p>
        </p:txBody>
      </p:sp>
    </p:spTree>
    <p:extLst>
      <p:ext uri="{BB962C8B-B14F-4D97-AF65-F5344CB8AC3E}">
        <p14:creationId xmlns:p14="http://schemas.microsoft.com/office/powerpoint/2010/main" val="869470413"/>
      </p:ext>
    </p:extLst>
  </p:cSld>
  <p:clrMapOvr>
    <a:masterClrMapping/>
  </p:clrMapOvr>
  <mc:AlternateContent xmlns:mc="http://schemas.openxmlformats.org/markup-compatibility/2006" xmlns:p14="http://schemas.microsoft.com/office/powerpoint/2010/main">
    <mc:Choice Requires="p14">
      <p:transition spd="slow" p14:dur="2000" advTm="272430"/>
    </mc:Choice>
    <mc:Fallback xmlns="">
      <p:transition spd="slow" advTm="27243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C078253-4D78-EDD9-4DE7-B497E295EE51}"/>
              </a:ext>
            </a:extLst>
          </p:cNvPr>
          <p:cNvSpPr>
            <a:spLocks noGrp="1"/>
          </p:cNvSpPr>
          <p:nvPr>
            <p:ph type="sldNum" sz="quarter" idx="11"/>
          </p:nvPr>
        </p:nvSpPr>
        <p:spPr/>
        <p:txBody>
          <a:bodyPr/>
          <a:lstStyle/>
          <a:p>
            <a:fld id="{8C2E478F-E849-4A8C-AF1F-CBCC78A7CBFA}" type="slidenum">
              <a:rPr lang="en-US" smtClean="0"/>
              <a:t>6</a:t>
            </a:fld>
            <a:endParaRPr lang="en-US" dirty="0"/>
          </a:p>
        </p:txBody>
      </p:sp>
      <p:sp>
        <p:nvSpPr>
          <p:cNvPr id="5" name="TextBox 4">
            <a:extLst>
              <a:ext uri="{FF2B5EF4-FFF2-40B4-BE49-F238E27FC236}">
                <a16:creationId xmlns:a16="http://schemas.microsoft.com/office/drawing/2014/main" id="{2D653907-227F-6CFF-1C90-F72281637488}"/>
              </a:ext>
            </a:extLst>
          </p:cNvPr>
          <p:cNvSpPr txBox="1"/>
          <p:nvPr/>
        </p:nvSpPr>
        <p:spPr>
          <a:xfrm>
            <a:off x="340023" y="1906345"/>
            <a:ext cx="11511954" cy="4031873"/>
          </a:xfrm>
          <a:prstGeom prst="rect">
            <a:avLst/>
          </a:prstGeom>
          <a:solidFill>
            <a:schemeClr val="tx1">
              <a:alpha val="70000"/>
            </a:schemeClr>
          </a:solidFill>
        </p:spPr>
        <p:txBody>
          <a:bodyPr wrap="square" rtlCol="0">
            <a:spAutoFit/>
          </a:bodyPr>
          <a:lstStyle/>
          <a:p>
            <a:pPr marL="285750" indent="-285750">
              <a:buFont typeface="Arial" panose="020B0604020202020204" pitchFamily="34" charset="0"/>
              <a:buChar char="•"/>
            </a:pPr>
            <a:r>
              <a:rPr lang="en-US" sz="3200" dirty="0">
                <a:solidFill>
                  <a:schemeClr val="bg1"/>
                </a:solidFill>
              </a:rPr>
              <a:t>Definition: Ensure that AI does not propagate bias whether intentional or unintentional</a:t>
            </a:r>
          </a:p>
          <a:p>
            <a:pPr marL="285750" indent="-285750">
              <a:buFont typeface="Arial" panose="020B0604020202020204" pitchFamily="34" charset="0"/>
              <a:buChar char="•"/>
            </a:pPr>
            <a:r>
              <a:rPr lang="en-US" sz="3200" dirty="0">
                <a:solidFill>
                  <a:schemeClr val="bg1"/>
                </a:solidFill>
              </a:rPr>
              <a:t>Challenges: Analyzing and ensuring that AI datasets and algorithms are “clean” and free from bias</a:t>
            </a:r>
          </a:p>
          <a:p>
            <a:pPr marL="285750" indent="-285750">
              <a:buFont typeface="Arial" panose="020B0604020202020204" pitchFamily="34" charset="0"/>
              <a:buChar char="•"/>
            </a:pPr>
            <a:r>
              <a:rPr lang="en-US" sz="3200" dirty="0">
                <a:solidFill>
                  <a:schemeClr val="bg1"/>
                </a:solidFill>
              </a:rPr>
              <a:t>Solutions: Incorporate diverse datasets and regularly audit AI decision-making.</a:t>
            </a:r>
          </a:p>
          <a:p>
            <a:pPr marL="285750" indent="-285750">
              <a:buFont typeface="Arial" panose="020B0604020202020204" pitchFamily="34" charset="0"/>
              <a:buChar char="•"/>
            </a:pPr>
            <a:r>
              <a:rPr lang="en-US" sz="3200" dirty="0">
                <a:solidFill>
                  <a:schemeClr val="bg1"/>
                </a:solidFill>
              </a:rPr>
              <a:t>Example: AI facial recognition tool’s inability to recognize African-American faces due to a predominantly Caucasian dataset</a:t>
            </a:r>
          </a:p>
        </p:txBody>
      </p:sp>
      <p:sp>
        <p:nvSpPr>
          <p:cNvPr id="7" name="Title 6">
            <a:extLst>
              <a:ext uri="{FF2B5EF4-FFF2-40B4-BE49-F238E27FC236}">
                <a16:creationId xmlns:a16="http://schemas.microsoft.com/office/drawing/2014/main" id="{7164A398-9C7F-ADC4-EFCE-1996AC862DF2}"/>
              </a:ext>
            </a:extLst>
          </p:cNvPr>
          <p:cNvSpPr>
            <a:spLocks noGrp="1"/>
          </p:cNvSpPr>
          <p:nvPr>
            <p:ph type="title"/>
          </p:nvPr>
        </p:nvSpPr>
        <p:spPr/>
        <p:txBody>
          <a:bodyPr/>
          <a:lstStyle/>
          <a:p>
            <a:r>
              <a:rPr lang="en-US" sz="4000" dirty="0">
                <a:highlight>
                  <a:srgbClr val="C0C0C0"/>
                </a:highlight>
              </a:rPr>
              <a:t>Fairness and Non-discrimination</a:t>
            </a:r>
          </a:p>
        </p:txBody>
      </p:sp>
    </p:spTree>
    <p:extLst>
      <p:ext uri="{BB962C8B-B14F-4D97-AF65-F5344CB8AC3E}">
        <p14:creationId xmlns:p14="http://schemas.microsoft.com/office/powerpoint/2010/main" val="4269565686"/>
      </p:ext>
    </p:extLst>
  </p:cSld>
  <p:clrMapOvr>
    <a:masterClrMapping/>
  </p:clrMapOvr>
  <mc:AlternateContent xmlns:mc="http://schemas.openxmlformats.org/markup-compatibility/2006" xmlns:p14="http://schemas.microsoft.com/office/powerpoint/2010/main">
    <mc:Choice Requires="p14">
      <p:transition spd="slow" p14:dur="2000" advTm="194029"/>
    </mc:Choice>
    <mc:Fallback xmlns="">
      <p:transition spd="slow" advTm="19402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9F7C8FF-DBCB-1890-2EEF-4F08247FB5E5}"/>
              </a:ext>
            </a:extLst>
          </p:cNvPr>
          <p:cNvSpPr txBox="1"/>
          <p:nvPr/>
        </p:nvSpPr>
        <p:spPr>
          <a:xfrm>
            <a:off x="3874136" y="386637"/>
            <a:ext cx="4443724" cy="707886"/>
          </a:xfrm>
          <a:prstGeom prst="rect">
            <a:avLst/>
          </a:prstGeom>
          <a:solidFill>
            <a:schemeClr val="bg1">
              <a:lumMod val="95000"/>
              <a:lumOff val="5000"/>
            </a:schemeClr>
          </a:solidFill>
        </p:spPr>
        <p:txBody>
          <a:bodyPr wrap="square" rtlCol="0">
            <a:spAutoFit/>
          </a:bodyPr>
          <a:lstStyle/>
          <a:p>
            <a:r>
              <a:rPr lang="en-US" sz="4000" dirty="0"/>
              <a:t>Prevention of Harm</a:t>
            </a:r>
          </a:p>
        </p:txBody>
      </p:sp>
      <p:sp>
        <p:nvSpPr>
          <p:cNvPr id="10" name="TextBox 9">
            <a:extLst>
              <a:ext uri="{FF2B5EF4-FFF2-40B4-BE49-F238E27FC236}">
                <a16:creationId xmlns:a16="http://schemas.microsoft.com/office/drawing/2014/main" id="{1E924280-7590-A1AF-0EB2-2C6DE8979009}"/>
              </a:ext>
            </a:extLst>
          </p:cNvPr>
          <p:cNvSpPr txBox="1"/>
          <p:nvPr/>
        </p:nvSpPr>
        <p:spPr>
          <a:xfrm>
            <a:off x="480288" y="1206004"/>
            <a:ext cx="11231419" cy="5651996"/>
          </a:xfrm>
          <a:prstGeom prst="rect">
            <a:avLst/>
          </a:prstGeom>
          <a:solidFill>
            <a:schemeClr val="bg1">
              <a:lumMod val="95000"/>
              <a:lumOff val="5000"/>
            </a:schemeClr>
          </a:solidFill>
        </p:spPr>
        <p:txBody>
          <a:bodyPr wrap="square" rtlCol="0">
            <a:spAutoFit/>
          </a:bodyPr>
          <a:lstStyle/>
          <a:p>
            <a:pPr marL="285750" indent="-285750">
              <a:lnSpc>
                <a:spcPct val="200000"/>
              </a:lnSpc>
              <a:buFont typeface="Arial" panose="020B0604020202020204" pitchFamily="34" charset="0"/>
              <a:buChar char="•"/>
            </a:pPr>
            <a:r>
              <a:rPr lang="en-US" sz="3200" dirty="0"/>
              <a:t>Definition: Addressing AI’s potential for misuse.</a:t>
            </a:r>
          </a:p>
          <a:p>
            <a:pPr marL="285750" indent="-285750">
              <a:lnSpc>
                <a:spcPct val="200000"/>
              </a:lnSpc>
              <a:buFont typeface="Arial" panose="020B0604020202020204" pitchFamily="34" charset="0"/>
              <a:buChar char="•"/>
            </a:pPr>
            <a:r>
              <a:rPr lang="en-US" sz="3200" dirty="0"/>
              <a:t>Solutions: Implementing risk assessment, implementing closed loop algorithms, establishing safeguards (algorithms and dataset protection), watermarks on generated images.</a:t>
            </a:r>
          </a:p>
          <a:p>
            <a:pPr marL="285750" indent="-285750">
              <a:lnSpc>
                <a:spcPct val="200000"/>
              </a:lnSpc>
              <a:buFont typeface="Arial" panose="020B0604020202020204" pitchFamily="34" charset="0"/>
              <a:buChar char="•"/>
            </a:pPr>
            <a:r>
              <a:rPr lang="en-US" sz="3200" dirty="0"/>
              <a:t>Example: Misinformation generated by AI used as propaganda.</a:t>
            </a:r>
          </a:p>
          <a:p>
            <a:pPr marL="285750" indent="-285750">
              <a:lnSpc>
                <a:spcPct val="200000"/>
              </a:lnSpc>
              <a:buFont typeface="Arial" panose="020B0604020202020204" pitchFamily="34" charset="0"/>
              <a:buChar char="•"/>
            </a:pPr>
            <a:endParaRPr lang="en-US" sz="2400" dirty="0"/>
          </a:p>
        </p:txBody>
      </p:sp>
    </p:spTree>
    <p:extLst>
      <p:ext uri="{BB962C8B-B14F-4D97-AF65-F5344CB8AC3E}">
        <p14:creationId xmlns:p14="http://schemas.microsoft.com/office/powerpoint/2010/main" val="839779156"/>
      </p:ext>
    </p:extLst>
  </p:cSld>
  <p:clrMapOvr>
    <a:masterClrMapping/>
  </p:clrMapOvr>
  <mc:AlternateContent xmlns:mc="http://schemas.openxmlformats.org/markup-compatibility/2006" xmlns:p14="http://schemas.microsoft.com/office/powerpoint/2010/main">
    <mc:Choice Requires="p14">
      <p:transition spd="slow" p14:dur="2000" advTm="90153"/>
    </mc:Choice>
    <mc:Fallback xmlns="">
      <p:transition spd="slow" advTm="90153"/>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9F2A82-A1C3-4571-9ED3-A0EC079893EC}"/>
              </a:ext>
            </a:extLst>
          </p:cNvPr>
          <p:cNvSpPr>
            <a:spLocks noGrp="1"/>
          </p:cNvSpPr>
          <p:nvPr>
            <p:ph type="sldNum" sz="quarter" idx="4"/>
          </p:nvPr>
        </p:nvSpPr>
        <p:spPr>
          <a:xfrm>
            <a:off x="11549269" y="6468303"/>
            <a:ext cx="443948" cy="365125"/>
          </a:xfrm>
        </p:spPr>
        <p:txBody>
          <a:bodyPr/>
          <a:lstStyle/>
          <a:p>
            <a:fld id="{8C2E478F-E849-4A8C-AF1F-CBCC78A7CBFA}" type="slidenum">
              <a:rPr lang="en-US" smtClean="0"/>
              <a:pPr/>
              <a:t>8</a:t>
            </a:fld>
            <a:endParaRPr lang="en-US" dirty="0"/>
          </a:p>
        </p:txBody>
      </p:sp>
      <p:sp>
        <p:nvSpPr>
          <p:cNvPr id="36" name="TextBox 35">
            <a:extLst>
              <a:ext uri="{FF2B5EF4-FFF2-40B4-BE49-F238E27FC236}">
                <a16:creationId xmlns:a16="http://schemas.microsoft.com/office/drawing/2014/main" id="{4E5219A1-EDC5-1380-D864-C0FE86B44A4C}"/>
              </a:ext>
            </a:extLst>
          </p:cNvPr>
          <p:cNvSpPr txBox="1"/>
          <p:nvPr/>
        </p:nvSpPr>
        <p:spPr>
          <a:xfrm>
            <a:off x="3112782" y="521255"/>
            <a:ext cx="5966435" cy="707886"/>
          </a:xfrm>
          <a:prstGeom prst="rect">
            <a:avLst/>
          </a:prstGeom>
          <a:solidFill>
            <a:schemeClr val="tx1">
              <a:lumMod val="75000"/>
              <a:lumOff val="25000"/>
              <a:alpha val="94000"/>
            </a:schemeClr>
          </a:solidFill>
        </p:spPr>
        <p:txBody>
          <a:bodyPr wrap="square" rtlCol="0">
            <a:spAutoFit/>
          </a:bodyPr>
          <a:lstStyle/>
          <a:p>
            <a:r>
              <a:rPr lang="en-US" sz="4000" dirty="0">
                <a:solidFill>
                  <a:schemeClr val="bg1"/>
                </a:solidFill>
              </a:rPr>
              <a:t>Emerging Ethical Challenges</a:t>
            </a:r>
          </a:p>
        </p:txBody>
      </p:sp>
      <p:sp>
        <p:nvSpPr>
          <p:cNvPr id="2" name="TextBox 1">
            <a:extLst>
              <a:ext uri="{FF2B5EF4-FFF2-40B4-BE49-F238E27FC236}">
                <a16:creationId xmlns:a16="http://schemas.microsoft.com/office/drawing/2014/main" id="{55D1DCAD-B616-1FD7-AB8C-B52FF5CE27D8}"/>
              </a:ext>
            </a:extLst>
          </p:cNvPr>
          <p:cNvSpPr txBox="1"/>
          <p:nvPr/>
        </p:nvSpPr>
        <p:spPr>
          <a:xfrm>
            <a:off x="498141" y="2143541"/>
            <a:ext cx="11273102" cy="3323987"/>
          </a:xfrm>
          <a:prstGeom prst="rect">
            <a:avLst/>
          </a:prstGeom>
          <a:solidFill>
            <a:schemeClr val="tx1">
              <a:lumMod val="75000"/>
              <a:lumOff val="25000"/>
              <a:alpha val="94000"/>
            </a:schemeClr>
          </a:solidFill>
        </p:spPr>
        <p:txBody>
          <a:bodyPr wrap="square" rtlCol="0">
            <a:spAutoFit/>
          </a:bodyPr>
          <a:lstStyle/>
          <a:p>
            <a:pPr marL="285750" indent="-285750">
              <a:buFont typeface="Arial" panose="020B0604020202020204" pitchFamily="34" charset="0"/>
              <a:buChar char="•"/>
            </a:pPr>
            <a:r>
              <a:rPr lang="en-US" sz="3200" dirty="0">
                <a:solidFill>
                  <a:schemeClr val="bg1"/>
                </a:solidFill>
              </a:rPr>
              <a:t>Algorithm Monoculture: Widespread use of similar AI models leading to systemic issues.</a:t>
            </a:r>
          </a:p>
          <a:p>
            <a:pPr marL="285750" indent="-285750">
              <a:buFont typeface="Arial" panose="020B0604020202020204" pitchFamily="34" charset="0"/>
              <a:buChar char="•"/>
            </a:pPr>
            <a:r>
              <a:rPr lang="en-US" sz="3200" dirty="0">
                <a:solidFill>
                  <a:schemeClr val="bg1"/>
                </a:solidFill>
              </a:rPr>
              <a:t>Global Inequality: AI benefitting high-income countries while disadvantaging others.</a:t>
            </a:r>
          </a:p>
          <a:p>
            <a:pPr marL="285750" indent="-285750">
              <a:buFont typeface="Arial" panose="020B0604020202020204" pitchFamily="34" charset="0"/>
              <a:buChar char="•"/>
            </a:pPr>
            <a:r>
              <a:rPr lang="en-US" sz="3200" dirty="0">
                <a:solidFill>
                  <a:schemeClr val="bg1"/>
                </a:solidFill>
              </a:rPr>
              <a:t>Misinformation and Deception: AI generated fake content impacting trust.</a:t>
            </a:r>
          </a:p>
          <a:p>
            <a:endParaRPr lang="en-US" dirty="0"/>
          </a:p>
        </p:txBody>
      </p:sp>
    </p:spTree>
    <p:extLst>
      <p:ext uri="{BB962C8B-B14F-4D97-AF65-F5344CB8AC3E}">
        <p14:creationId xmlns:p14="http://schemas.microsoft.com/office/powerpoint/2010/main" val="2720361709"/>
      </p:ext>
    </p:extLst>
  </p:cSld>
  <p:clrMapOvr>
    <a:masterClrMapping/>
  </p:clrMapOvr>
  <mc:AlternateContent xmlns:mc="http://schemas.openxmlformats.org/markup-compatibility/2006" xmlns:p14="http://schemas.microsoft.com/office/powerpoint/2010/main">
    <mc:Choice Requires="p14">
      <p:transition spd="slow" p14:dur="2000" advTm="292840"/>
    </mc:Choice>
    <mc:Fallback xmlns="">
      <p:transition spd="slow" advTm="29284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5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Freeform: Shape 2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itle 13">
            <a:extLst>
              <a:ext uri="{FF2B5EF4-FFF2-40B4-BE49-F238E27FC236}">
                <a16:creationId xmlns:a16="http://schemas.microsoft.com/office/drawing/2014/main" id="{A269A8A9-FCE0-3522-BCA3-A2A22E2BF66B}"/>
              </a:ext>
            </a:extLst>
          </p:cNvPr>
          <p:cNvSpPr>
            <a:spLocks noGrp="1"/>
          </p:cNvSpPr>
          <p:nvPr>
            <p:ph type="title" idx="4294967295"/>
          </p:nvPr>
        </p:nvSpPr>
        <p:spPr>
          <a:xfrm>
            <a:off x="3027562" y="-28287"/>
            <a:ext cx="6168317" cy="1342456"/>
          </a:xfrm>
        </p:spPr>
        <p:txBody>
          <a:bodyPr vert="horz" lIns="91440" tIns="45720" rIns="91440" bIns="45720" rtlCol="0" anchor="ctr">
            <a:normAutofit/>
          </a:bodyPr>
          <a:lstStyle/>
          <a:p>
            <a:pPr algn="l">
              <a:lnSpc>
                <a:spcPct val="90000"/>
              </a:lnSpc>
            </a:pPr>
            <a:r>
              <a:rPr lang="en-US" sz="4000" b="1" kern="1200" dirty="0">
                <a:solidFill>
                  <a:schemeClr val="tx1"/>
                </a:solidFill>
                <a:latin typeface="+mj-lt"/>
                <a:ea typeface="+mj-ea"/>
                <a:cs typeface="+mj-cs"/>
              </a:rPr>
              <a:t>A Framework for ethical AI development</a:t>
            </a:r>
          </a:p>
        </p:txBody>
      </p:sp>
      <p:sp>
        <p:nvSpPr>
          <p:cNvPr id="25" name="Rectangle 24">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Picture Placeholder 5">
            <a:extLst>
              <a:ext uri="{FF2B5EF4-FFF2-40B4-BE49-F238E27FC236}">
                <a16:creationId xmlns:a16="http://schemas.microsoft.com/office/drawing/2014/main" id="{5A8AA571-5A7F-749C-C21C-3690625206C6}"/>
              </a:ext>
            </a:extLst>
          </p:cNvPr>
          <p:cNvSpPr>
            <a:spLocks/>
          </p:cNvSpPr>
          <p:nvPr/>
        </p:nvSpPr>
        <p:spPr>
          <a:xfrm>
            <a:off x="15721" y="0"/>
            <a:ext cx="12192000" cy="6858000"/>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8E6747F5-697B-2472-B903-841FD6851AE4}"/>
              </a:ext>
            </a:extLst>
          </p:cNvPr>
          <p:cNvSpPr>
            <a:spLocks/>
          </p:cNvSpPr>
          <p:nvPr/>
        </p:nvSpPr>
        <p:spPr>
          <a:xfrm>
            <a:off x="11703116" y="6346176"/>
            <a:ext cx="325923" cy="267722"/>
          </a:xfrm>
          <a:prstGeom prst="rect">
            <a:avLst/>
          </a:prstGeom>
        </p:spPr>
        <p:txBody>
          <a:bodyPr/>
          <a:lstStyle/>
          <a:p>
            <a:pPr defTabSz="667512"/>
            <a:fld id="{8C2E478F-E849-4A8C-AF1F-CBCC78A7CBFA}" type="slidenum">
              <a:rPr lang="en-US" sz="1314" kern="1200">
                <a:solidFill>
                  <a:srgbClr val="555555"/>
                </a:solidFill>
                <a:latin typeface="+mn-lt"/>
                <a:ea typeface="+mn-ea"/>
                <a:cs typeface="+mn-cs"/>
              </a:rPr>
              <a:pPr defTabSz="667512"/>
              <a:t>9</a:t>
            </a:fld>
            <a:endParaRPr lang="en-US" dirty="0"/>
          </a:p>
        </p:txBody>
      </p:sp>
      <p:sp>
        <p:nvSpPr>
          <p:cNvPr id="16" name="TextBox 15">
            <a:extLst>
              <a:ext uri="{FF2B5EF4-FFF2-40B4-BE49-F238E27FC236}">
                <a16:creationId xmlns:a16="http://schemas.microsoft.com/office/drawing/2014/main" id="{CD895EA4-0C29-6B0C-BE2A-A957EC4E0906}"/>
              </a:ext>
            </a:extLst>
          </p:cNvPr>
          <p:cNvSpPr txBox="1"/>
          <p:nvPr/>
        </p:nvSpPr>
        <p:spPr>
          <a:xfrm>
            <a:off x="396842" y="1330853"/>
            <a:ext cx="11398316" cy="5786199"/>
          </a:xfrm>
          <a:prstGeom prst="rect">
            <a:avLst/>
          </a:prstGeom>
          <a:solidFill>
            <a:schemeClr val="bg1">
              <a:lumMod val="95000"/>
              <a:lumOff val="5000"/>
            </a:schemeClr>
          </a:solidFill>
        </p:spPr>
        <p:txBody>
          <a:bodyPr wrap="square" rtlCol="0">
            <a:spAutoFit/>
          </a:bodyPr>
          <a:lstStyle/>
          <a:p>
            <a:pPr marL="342900" indent="-342900">
              <a:buFont typeface="Arial" panose="020B0604020202020204" pitchFamily="34" charset="0"/>
              <a:buChar char="•"/>
            </a:pPr>
            <a:r>
              <a:rPr lang="en-US" sz="3200" dirty="0"/>
              <a:t>Human Centric AI: Ensuring AI development is centered around the benefit of society.</a:t>
            </a:r>
          </a:p>
          <a:p>
            <a:pPr marL="342900" indent="-342900">
              <a:buFont typeface="Arial" panose="020B0604020202020204" pitchFamily="34" charset="0"/>
              <a:buChar char="•"/>
            </a:pPr>
            <a:r>
              <a:rPr lang="en-US" sz="3200" dirty="0"/>
              <a:t>Transparency and Explainability: The process of making AI systems and its decisions understandable.</a:t>
            </a:r>
          </a:p>
          <a:p>
            <a:pPr marL="342900" indent="-342900">
              <a:buFont typeface="Arial" panose="020B0604020202020204" pitchFamily="34" charset="0"/>
              <a:buChar char="•"/>
            </a:pPr>
            <a:r>
              <a:rPr lang="en-US" sz="3200" dirty="0"/>
              <a:t>Governance and Accountability: Holding AI systems, their developers, implementors, and users accountable.</a:t>
            </a:r>
          </a:p>
          <a:p>
            <a:pPr marL="342900" indent="-342900">
              <a:buFont typeface="Arial" panose="020B0604020202020204" pitchFamily="34" charset="0"/>
              <a:buChar char="•"/>
            </a:pPr>
            <a:r>
              <a:rPr lang="en-US" sz="3200" dirty="0"/>
              <a:t>Fairness and Inclusion: Mitigating or eliminating bias in AI decisions.</a:t>
            </a:r>
          </a:p>
          <a:p>
            <a:pPr marL="342900" indent="-342900">
              <a:buFont typeface="Arial" panose="020B0604020202020204" pitchFamily="34" charset="0"/>
              <a:buChar char="•"/>
            </a:pPr>
            <a:r>
              <a:rPr lang="en-US" sz="3200" dirty="0"/>
              <a:t>Risk Mitigation: Implementing safeguards to prevent harm.</a:t>
            </a:r>
          </a:p>
          <a:p>
            <a:pPr marL="342900" indent="-342900">
              <a:buFont typeface="Arial" panose="020B0604020202020204" pitchFamily="34" charset="0"/>
              <a:buChar char="•"/>
            </a:pPr>
            <a:r>
              <a:rPr lang="en-US" sz="3200" dirty="0"/>
              <a:t>Global Collaboration: Implementing basic global frameworks for AI development.</a:t>
            </a:r>
          </a:p>
          <a:p>
            <a:endParaRPr lang="en-US" dirty="0"/>
          </a:p>
        </p:txBody>
      </p:sp>
    </p:spTree>
    <p:extLst>
      <p:ext uri="{BB962C8B-B14F-4D97-AF65-F5344CB8AC3E}">
        <p14:creationId xmlns:p14="http://schemas.microsoft.com/office/powerpoint/2010/main" val="3860685720"/>
      </p:ext>
    </p:extLst>
  </p:cSld>
  <p:clrMapOvr>
    <a:masterClrMapping/>
  </p:clrMapOvr>
  <mc:AlternateContent xmlns:mc="http://schemas.openxmlformats.org/markup-compatibility/2006" xmlns:p14="http://schemas.microsoft.com/office/powerpoint/2010/main">
    <mc:Choice Requires="p14">
      <p:transition spd="slow" p14:dur="2000" advTm="560"/>
    </mc:Choice>
    <mc:Fallback xmlns="">
      <p:transition spd="slow" advTm="56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65000"/>
          </a:schemeClr>
        </a:solidFill>
        <a:effectLst/>
      </p:bgPr>
    </p:bg>
    <p:spTree>
      <p:nvGrpSpPr>
        <p:cNvPr id="1" name="">
          <a:extLst>
            <a:ext uri="{FF2B5EF4-FFF2-40B4-BE49-F238E27FC236}">
              <a16:creationId xmlns:a16="http://schemas.microsoft.com/office/drawing/2014/main" id="{005C8CA8-CCC5-A064-FE4D-DD8D6AD24DBB}"/>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88C714B9-005C-7939-93F5-0EDF9A1C0325}"/>
              </a:ext>
            </a:extLst>
          </p:cNvPr>
          <p:cNvSpPr>
            <a:spLocks noGrp="1"/>
          </p:cNvSpPr>
          <p:nvPr>
            <p:ph type="title" idx="4294967295"/>
          </p:nvPr>
        </p:nvSpPr>
        <p:spPr>
          <a:xfrm>
            <a:off x="4452950" y="-11603"/>
            <a:ext cx="6168317" cy="1342456"/>
          </a:xfrm>
        </p:spPr>
        <p:txBody>
          <a:bodyPr vert="horz" lIns="91440" tIns="45720" rIns="91440" bIns="45720" rtlCol="0" anchor="ctr">
            <a:normAutofit/>
          </a:bodyPr>
          <a:lstStyle/>
          <a:p>
            <a:pPr algn="l">
              <a:lnSpc>
                <a:spcPct val="90000"/>
              </a:lnSpc>
            </a:pPr>
            <a:r>
              <a:rPr lang="en-US" sz="4000" b="1" dirty="0"/>
              <a:t>Conclusion</a:t>
            </a:r>
            <a:endParaRPr lang="en-US" sz="4000" b="1" kern="1200" dirty="0">
              <a:solidFill>
                <a:schemeClr val="tx1"/>
              </a:solidFill>
              <a:latin typeface="+mj-lt"/>
              <a:ea typeface="+mj-ea"/>
              <a:cs typeface="+mj-cs"/>
            </a:endParaRPr>
          </a:p>
        </p:txBody>
      </p:sp>
      <p:sp>
        <p:nvSpPr>
          <p:cNvPr id="6" name="Picture Placeholder 5">
            <a:extLst>
              <a:ext uri="{FF2B5EF4-FFF2-40B4-BE49-F238E27FC236}">
                <a16:creationId xmlns:a16="http://schemas.microsoft.com/office/drawing/2014/main" id="{746B9B22-387A-1B5C-086D-87D162CDFBEA}"/>
              </a:ext>
            </a:extLst>
          </p:cNvPr>
          <p:cNvSpPr>
            <a:spLocks/>
          </p:cNvSpPr>
          <p:nvPr/>
        </p:nvSpPr>
        <p:spPr>
          <a:xfrm>
            <a:off x="15721" y="0"/>
            <a:ext cx="12192000" cy="6858000"/>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677E8FD-408F-0BB9-E4E9-526FEC0BD94C}"/>
              </a:ext>
            </a:extLst>
          </p:cNvPr>
          <p:cNvSpPr>
            <a:spLocks/>
          </p:cNvSpPr>
          <p:nvPr/>
        </p:nvSpPr>
        <p:spPr>
          <a:xfrm>
            <a:off x="11703116" y="6346176"/>
            <a:ext cx="325923" cy="267722"/>
          </a:xfrm>
          <a:prstGeom prst="rect">
            <a:avLst/>
          </a:prstGeom>
        </p:spPr>
        <p:txBody>
          <a:bodyPr/>
          <a:lstStyle/>
          <a:p>
            <a:pPr defTabSz="667512"/>
            <a:fld id="{8C2E478F-E849-4A8C-AF1F-CBCC78A7CBFA}" type="slidenum">
              <a:rPr lang="en-US" sz="1314" kern="1200">
                <a:solidFill>
                  <a:srgbClr val="555555"/>
                </a:solidFill>
                <a:latin typeface="+mn-lt"/>
                <a:ea typeface="+mn-ea"/>
                <a:cs typeface="+mn-cs"/>
              </a:rPr>
              <a:pPr defTabSz="667512"/>
              <a:t>10</a:t>
            </a:fld>
            <a:endParaRPr lang="en-US" dirty="0"/>
          </a:p>
        </p:txBody>
      </p:sp>
      <p:sp>
        <p:nvSpPr>
          <p:cNvPr id="16" name="TextBox 15">
            <a:extLst>
              <a:ext uri="{FF2B5EF4-FFF2-40B4-BE49-F238E27FC236}">
                <a16:creationId xmlns:a16="http://schemas.microsoft.com/office/drawing/2014/main" id="{5A36952D-DFA1-BC7E-C65D-BE2690226085}"/>
              </a:ext>
            </a:extLst>
          </p:cNvPr>
          <p:cNvSpPr txBox="1"/>
          <p:nvPr/>
        </p:nvSpPr>
        <p:spPr>
          <a:xfrm>
            <a:off x="396842" y="1330853"/>
            <a:ext cx="11398316" cy="2831544"/>
          </a:xfrm>
          <a:prstGeom prst="rect">
            <a:avLst/>
          </a:prstGeom>
          <a:solidFill>
            <a:schemeClr val="bg1">
              <a:lumMod val="95000"/>
              <a:lumOff val="5000"/>
            </a:schemeClr>
          </a:solidFill>
        </p:spPr>
        <p:txBody>
          <a:bodyPr wrap="square" rtlCol="0">
            <a:spAutoFit/>
          </a:bodyPr>
          <a:lstStyle/>
          <a:p>
            <a:pPr marL="342900" indent="-342900">
              <a:buFont typeface="Arial" panose="020B0604020202020204" pitchFamily="34" charset="0"/>
              <a:buChar char="•"/>
            </a:pPr>
            <a:r>
              <a:rPr lang="en-US" sz="3200" dirty="0"/>
              <a:t>Summary: Ethical considerations are critical for ensuring its use aligns with human needs and the benefit of society.</a:t>
            </a:r>
          </a:p>
          <a:p>
            <a:pPr marL="342900" indent="-342900">
              <a:buFont typeface="Arial" panose="020B0604020202020204" pitchFamily="34" charset="0"/>
              <a:buChar char="•"/>
            </a:pPr>
            <a:r>
              <a:rPr lang="en-US" sz="3200" dirty="0"/>
              <a:t>Future Considerations: Continuous review of AI framework as it’s development exponentially grows.</a:t>
            </a:r>
          </a:p>
          <a:p>
            <a:pPr marL="342900" indent="-342900">
              <a:buFont typeface="Arial" panose="020B0604020202020204" pitchFamily="34" charset="0"/>
              <a:buChar char="•"/>
            </a:pPr>
            <a:r>
              <a:rPr lang="en-US" sz="3200" dirty="0"/>
              <a:t>Questions?</a:t>
            </a:r>
          </a:p>
          <a:p>
            <a:endParaRPr lang="en-US" dirty="0"/>
          </a:p>
        </p:txBody>
      </p:sp>
    </p:spTree>
    <p:extLst>
      <p:ext uri="{BB962C8B-B14F-4D97-AF65-F5344CB8AC3E}">
        <p14:creationId xmlns:p14="http://schemas.microsoft.com/office/powerpoint/2010/main" val="2403387394"/>
      </p:ext>
    </p:extLst>
  </p:cSld>
  <p:clrMapOvr>
    <a:masterClrMapping/>
  </p:clrMapOvr>
  <mc:AlternateContent xmlns:mc="http://schemas.openxmlformats.org/markup-compatibility/2006" xmlns:p14="http://schemas.microsoft.com/office/powerpoint/2010/main">
    <mc:Choice Requires="p14">
      <p:transition spd="slow" p14:dur="2000" advTm="560"/>
    </mc:Choice>
    <mc:Fallback xmlns="">
      <p:transition spd="slow" advTm="560"/>
    </mc:Fallback>
  </mc:AlternateContent>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 id="{969BE826-8665-45F1-A77E-2C1BF61E0D92}" vid="{76896FC0-3EF9-4C10-B34C-BB4B0D9C6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99E4EAC9-33DC-4CF0-BA31-C98F61CE4785}">
  <ds:schemaRefs>
    <ds:schemaRef ds:uri="http://schemas.microsoft.com/sharepoint/v3/contenttype/forms"/>
  </ds:schemaRefs>
</ds:datastoreItem>
</file>

<file path=customXml/itemProps2.xml><?xml version="1.0" encoding="utf-8"?>
<ds:datastoreItem xmlns:ds="http://schemas.openxmlformats.org/officeDocument/2006/customXml" ds:itemID="{A3D5DB56-3A71-4638-9571-EE877FD66E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02A8ED-1331-4C1D-8649-743D7BE164D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{3D2216E5-F046-4319-8F92-F9BDEC7D3067}tf55661986_win32</Template>
  <TotalTime>620</TotalTime>
  <Words>1002</Words>
  <Application>Microsoft Office PowerPoint</Application>
  <PresentationFormat>Widescreen</PresentationFormat>
  <Paragraphs>79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Biome Light</vt:lpstr>
      <vt:lpstr>Calibri</vt:lpstr>
      <vt:lpstr>Calibri Light</vt:lpstr>
      <vt:lpstr>Wingdings</vt:lpstr>
      <vt:lpstr>Office Theme</vt:lpstr>
      <vt:lpstr>Ethical Considerations and Concerns over the rapid development of ai</vt:lpstr>
      <vt:lpstr>Introduction</vt:lpstr>
      <vt:lpstr>Ethical Principles in AI Development</vt:lpstr>
      <vt:lpstr>Transparency and Explainability</vt:lpstr>
      <vt:lpstr>AI Accountability</vt:lpstr>
      <vt:lpstr>Fairness and Non-discrimination</vt:lpstr>
      <vt:lpstr>PowerPoint Presentation</vt:lpstr>
      <vt:lpstr>PowerPoint Presentation</vt:lpstr>
      <vt:lpstr>A Framework for ethical AI development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US Customs employee management system (CEMS)</dc:title>
  <dc:creator>BUSTAMANTE, NICOLAS P</dc:creator>
  <cp:lastModifiedBy>Nicolas Bustamante</cp:lastModifiedBy>
  <cp:revision>3</cp:revision>
  <dcterms:created xsi:type="dcterms:W3CDTF">2023-12-12T20:14:37Z</dcterms:created>
  <dcterms:modified xsi:type="dcterms:W3CDTF">2025-02-26T21:15:47Z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